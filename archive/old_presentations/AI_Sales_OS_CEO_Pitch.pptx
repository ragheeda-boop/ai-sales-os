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194560"/>
            <a:ext cx="54864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نحن لا نعاني من نقص العملاء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96167"/>
                </a:solidFill>
                <a:latin typeface="Calibri"/>
              </a:defRPr>
            </a:pPr>
            <a:r>
              <a:t>نحن نخسر العملاء الجاهزين — بدون ما نعرف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AI Sales OS  |  Muhide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المشكلة الحقيقية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CADCFC"/>
                </a:solidFill>
                <a:latin typeface="Calibri"/>
              </a:defRPr>
            </a:pPr>
            <a:r>
              <a:t>في سوق B2B اليوم: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4572000" cy="13716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العميل لا يرفض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01752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7B8BAD"/>
                </a:solidFill>
                <a:latin typeface="Calibri"/>
              </a:defRPr>
            </a:pPr>
            <a:r>
              <a:t>The client doesn't say 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4572000" cy="13716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20624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العميل يؤجل 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66344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7B8BAD"/>
                </a:solidFill>
                <a:latin typeface="Calibri"/>
              </a:defRPr>
            </a:pPr>
            <a:r>
              <a:t>The client delays — and that's where deals die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029200" cy="3840480"/>
          </a:xfrm>
          <a:prstGeom prst="round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73152" cy="3840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560320"/>
            <a:ext cx="4114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F96167"/>
                </a:solidFill>
                <a:latin typeface="Calibri"/>
              </a:defRPr>
            </a:pPr>
            <a:r>
              <a:t>وهنا تضيع</a:t>
            </a:r>
            <a:br/>
            <a:r>
              <a:t>الصفقات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57200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7B8BAD"/>
                </a:solidFill>
                <a:latin typeface="Calibri"/>
              </a:defRPr>
            </a:pPr>
            <a:r>
              <a:t>This is where deals are lost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أين نخسر فعلياً؟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292608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العميل مهتم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لكن لا يُتابع في الوقت المناسب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B8BAD"/>
                </a:solidFill>
                <a:latin typeface="Calibri"/>
              </a:defRPr>
            </a:pPr>
            <a:r>
              <a:t>Interested but not followed up on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00400" cy="292608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1828800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1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6888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الفريق لا يعرف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من "جاهز الآن"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56616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B8BAD"/>
                </a:solidFill>
                <a:latin typeface="Calibri"/>
              </a:defRPr>
            </a:pPr>
            <a:r>
              <a:t>Team doesn't know who's ready NOW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200400" cy="292608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0" y="1828800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1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6888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نفس الجهد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يُصرف على عميل ضعيف وقوي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B8BAD"/>
                </a:solidFill>
                <a:latin typeface="Calibri"/>
              </a:defRPr>
            </a:pPr>
            <a:r>
              <a:t>Same effort on weak &amp; strong leads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21208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96167"/>
                </a:solidFill>
                <a:latin typeface="Calibri"/>
              </a:defRPr>
            </a:pPr>
            <a:r>
              <a:t>نخسر صفقات جاهزة بسبب سوء التوقيت — وليس ضعف المنتج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371600"/>
            <a:ext cx="8503920" cy="4114800"/>
          </a:xfrm>
          <a:prstGeom prst="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03120" y="1097280"/>
            <a:ext cx="914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F96167"/>
                </a:solidFill>
                <a:latin typeface="Georgia"/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645920"/>
            <a:ext cx="6858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في B2B،</a:t>
            </a:r>
            <a:br/>
            <a:r>
              <a:t>الصفقة لا تُخسر</a:t>
            </a:r>
            <a:br/>
            <a:r>
              <a:t>لأن العميل لا يريد...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0"/>
            <a:ext cx="6858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96167"/>
                </a:solidFill>
                <a:latin typeface="Calibri"/>
              </a:defRPr>
            </a:pPr>
            <a:r>
              <a:t>بل لأنها لم تُتابع</a:t>
            </a:r>
            <a:br/>
            <a:r>
              <a:t>في اللحظة المناسبة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754880"/>
            <a:ext cx="6858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B8BAD"/>
                </a:solidFill>
                <a:latin typeface="Calibri"/>
              </a:defRPr>
            </a:pPr>
            <a:r>
              <a:t>Deals aren't lost because the client doesn't want it —</a:t>
            </a:r>
            <a:br/>
            <a:r>
              <a:t>they're lost because they weren't followed up at the right moment.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الحل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CADCFC"/>
                </a:solidFill>
                <a:latin typeface="Calibri"/>
              </a:defRPr>
            </a:pPr>
            <a:r>
              <a:t>AI Sales OS ليس أداة — بل نظام يحدد: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91840" cy="256032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329184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9616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من سيشتري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976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Who will 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743200"/>
            <a:ext cx="3291840" cy="256032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743200"/>
            <a:ext cx="3291840" cy="54864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0175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9C84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6576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متى سيشتري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2976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When they'll buy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43200"/>
            <a:ext cx="3291840" cy="256032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743200"/>
            <a:ext cx="32918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0175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6576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كيف نغلقه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2976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How to close them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التحول الحقيقي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846320" cy="4389120"/>
          </a:xfrm>
          <a:prstGeom prst="round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8463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96167"/>
                </a:solidFill>
                <a:latin typeface="Calibri"/>
              </a:defRPr>
            </a:pPr>
            <a:r>
              <a:t>قبل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✗  بيع يعتمد على اجتهاد الفرد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✗  متابعة عشوائية بدون أولوية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✗  قرارات بالحدس مو بالبيانات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4632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✗  فقدان فرص بدون ما ندري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4846320" cy="4389120"/>
          </a:xfrm>
          <a:prstGeom prst="roundRect">
            <a:avLst/>
          </a:prstGeom>
          <a:solidFill>
            <a:srgbClr val="0A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48463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بعد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7744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2608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✓  بيع يعتمد على نظام ذكي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6616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✓  متابعة ذكية حسب الأولوية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20624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✓  قرارات مبنية على بيانات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84632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✓  التقاط كل فرصة في وقتها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القيمة الحقيقية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846320" cy="219456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7B8BAD"/>
                </a:solidFill>
                <a:latin typeface="Calibri"/>
              </a:defRPr>
            </a:pPr>
            <a:r>
              <a:t>بدل ما نسأل: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39319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CADCFC"/>
                </a:solidFill>
                <a:latin typeface="Calibri"/>
              </a:defRPr>
            </a:pPr>
            <a:r>
              <a:t>"مين نكلم اليوم؟"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94560"/>
            <a:ext cx="731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9616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846320" cy="2194560"/>
          </a:xfrm>
          <a:prstGeom prst="roundRect">
            <a:avLst/>
          </a:prstGeom>
          <a:solidFill>
            <a:srgbClr val="0A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73152" cy="2194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7B8BAD"/>
                </a:solidFill>
                <a:latin typeface="Calibri"/>
              </a:defRPr>
            </a:pPr>
            <a:r>
              <a:t>النظام يقول: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286000"/>
            <a:ext cx="3931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00D4AA"/>
                </a:solidFill>
                <a:latin typeface="Calibri"/>
              </a:defRPr>
            </a:pPr>
            <a:r>
              <a:t>"هؤلاء الثلاثة</a:t>
            </a:r>
            <a:br/>
            <a:r>
              <a:t>لازم تكلمهم الآن"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89120"/>
            <a:ext cx="3291840" cy="164592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5720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تحديد الأولويات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Smart Prioritization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389120"/>
            <a:ext cx="3291840" cy="164592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5720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إشارات لحظية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0292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Real-time Signals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389120"/>
            <a:ext cx="3291840" cy="164592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5720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بدون تخمين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0292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Zero Guesswork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كيف يحل مشاكلنا فعلياً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32720" cy="14630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73152" cy="1463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78308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1051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91639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المماطلة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488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Client Stalling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28800"/>
            <a:ext cx="4846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CADCFC"/>
                </a:solidFill>
                <a:latin typeface="Calibri"/>
              </a:defRPr>
            </a:pPr>
            <a:r>
              <a:t>النظام يكشف من فعلاً مهتم — ومن فقط يؤجل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46120"/>
            <a:ext cx="10332720" cy="14630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246120"/>
            <a:ext cx="73152" cy="1463040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0160" y="3474720"/>
            <a:ext cx="548640" cy="548640"/>
          </a:xfrm>
          <a:prstGeom prst="ellipse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50215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383279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دورة البيع الطويلة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40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Long Sales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520439"/>
            <a:ext cx="4846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CADCFC"/>
                </a:solidFill>
                <a:latin typeface="Calibri"/>
              </a:defRPr>
            </a:pPr>
            <a:r>
              <a:t>يسرّع القرار عبر متابعة ذكية ويقلل dead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37760"/>
            <a:ext cx="10332720" cy="14630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937760"/>
            <a:ext cx="73152" cy="1463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80160" y="5166360"/>
            <a:ext cx="548640" cy="5486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19379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0749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ضعف الإغلاق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5321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Low Close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212080"/>
            <a:ext cx="4846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CADCFC"/>
                </a:solidFill>
                <a:latin typeface="Calibri"/>
              </a:defRPr>
            </a:pPr>
            <a:r>
              <a:t>يركز الجهد على أعلى احتمالية تحويل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الفرق الجوهري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5029200" cy="64008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بدون النظام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64008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مع النظام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5029200" cy="6858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F8A8A"/>
                </a:solidFill>
                <a:latin typeface="Calibri"/>
              </a:defRPr>
            </a:pPr>
            <a:r>
              <a:t>✗  كل العملاء نفس الشي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77440"/>
            <a:ext cx="5029200" cy="6858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46888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FFC8"/>
                </a:solidFill>
                <a:latin typeface="Calibri"/>
              </a:defRPr>
            </a:pPr>
            <a:r>
              <a:t>✓  العملاء حسب الأولوية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00400"/>
            <a:ext cx="5029200" cy="68580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F8A8A"/>
                </a:solidFill>
                <a:latin typeface="Calibri"/>
              </a:defRPr>
            </a:pPr>
            <a:r>
              <a:t>✗  متابعة عشوائية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00400"/>
            <a:ext cx="5029200" cy="68580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29184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FFC8"/>
                </a:solidFill>
                <a:latin typeface="Calibri"/>
              </a:defRPr>
            </a:pPr>
            <a:r>
              <a:t>✓  متابعة ذكية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5029200" cy="6858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11480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F8A8A"/>
                </a:solidFill>
                <a:latin typeface="Calibri"/>
              </a:defRPr>
            </a:pPr>
            <a:r>
              <a:t>✗  قرارات حدسية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023360"/>
            <a:ext cx="5029200" cy="6858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11480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FFC8"/>
                </a:solidFill>
                <a:latin typeface="Calibri"/>
              </a:defRPr>
            </a:pPr>
            <a:r>
              <a:t>✓  قرارات بيانات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46320"/>
            <a:ext cx="5029200" cy="68580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93776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F8A8A"/>
                </a:solidFill>
                <a:latin typeface="Calibri"/>
              </a:defRPr>
            </a:pPr>
            <a:r>
              <a:t>✗  فقدان فرص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846320"/>
            <a:ext cx="5029200" cy="68580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93776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FFC8"/>
                </a:solidFill>
                <a:latin typeface="Calibri"/>
              </a:defRPr>
            </a:pPr>
            <a:r>
              <a:t>✓  التقاط الفرص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669280"/>
            <a:ext cx="5029200" cy="6858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576072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F8A8A"/>
                </a:solidFill>
                <a:latin typeface="Calibri"/>
              </a:defRPr>
            </a:pPr>
            <a:r>
              <a:t>✗  جهد متساوي للكل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669280"/>
            <a:ext cx="5029200" cy="6858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576072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FFC8"/>
                </a:solidFill>
                <a:latin typeface="Calibri"/>
              </a:defRPr>
            </a:pPr>
            <a:r>
              <a:t>✓  تركيز على العميل الجاهز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كيف يولد فرص حقيقية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CADCFC"/>
                </a:solidFill>
                <a:latin typeface="Calibri"/>
              </a:defRPr>
            </a:pPr>
            <a:r>
              <a:t>النظام لا يولد Leads فقط — يولد Ready-to-Buy Opportunities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3291840" cy="256032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329184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تحليل السلوك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Behavior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49039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يراقب تفاعل العميل مع كل نقطة اتصال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68880"/>
            <a:ext cx="3291840" cy="256032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468880"/>
            <a:ext cx="3291840" cy="54864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432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تحليل التفاعل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200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Engagement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749039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يقيس مستوى الاهتمام الحقيقي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468880"/>
            <a:ext cx="3291840" cy="256032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468880"/>
            <a:ext cx="32918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7432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تحليل التوقيت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00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Timing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749039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يحدد اللحظة المثالية للتواصل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486400"/>
            <a:ext cx="7589520" cy="914400"/>
          </a:xfrm>
          <a:prstGeom prst="roundRect">
            <a:avLst/>
          </a:prstGeom>
          <a:solidFill>
            <a:srgbClr val="0A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5486400"/>
            <a:ext cx="54864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5623560"/>
            <a:ext cx="6675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يعطيك العميل في لحظة الشراء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الذكاء الحقيقي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9C84A"/>
                </a:solidFill>
                <a:latin typeface="Calibri"/>
              </a:defRPr>
            </a:pPr>
            <a:r>
              <a:t>النظام لا يعمل فقط — بل يتعلم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3291840" cy="201168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4560" y="2651760"/>
            <a:ext cx="548640" cy="548640"/>
          </a:xfrm>
          <a:prstGeom prst="ellipse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67919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A0F1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832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يكتشف من يرد أكثر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840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Discovers who responds most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68880"/>
            <a:ext cx="3291840" cy="201168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2651760"/>
            <a:ext cx="548640" cy="548640"/>
          </a:xfrm>
          <a:prstGeom prst="ellipse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67919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A0F1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3832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يكتشف أي قطاع يتحول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840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Identifies converting segments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468880"/>
            <a:ext cx="3291840" cy="201168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09760" y="2651760"/>
            <a:ext cx="548640" cy="548640"/>
          </a:xfrm>
          <a:prstGeom prst="ellipse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67919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A0F1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3832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يعدّل نفسه تلقائياً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40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Self-calibrates automatically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029200"/>
            <a:ext cx="7589520" cy="109728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5212080"/>
            <a:ext cx="6675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F9C84A"/>
                </a:solidFill>
                <a:latin typeface="Calibri"/>
              </a:defRPr>
            </a:pPr>
            <a:r>
              <a:t>كل أسبوع يصبح أدق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669280"/>
            <a:ext cx="6675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B8BAD"/>
                </a:solidFill>
                <a:latin typeface="Calibri"/>
              </a:defRPr>
            </a:pPr>
            <a:r>
              <a:t>Every week it gets smarter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الأثر على محايد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120640" cy="19202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01168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029968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65960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تقليل مدة إغلاق الصفقة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4688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Shorter Sales 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5120640" cy="19202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645920"/>
            <a:ext cx="73152" cy="1920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40" y="2011680"/>
            <a:ext cx="640080" cy="6400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029968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965960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زيادة نسبة التحويل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4688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Higher Conversion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31920"/>
            <a:ext cx="5120640" cy="19202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931920"/>
            <a:ext cx="73152" cy="1920240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4297680"/>
            <a:ext cx="640080" cy="640080"/>
          </a:xfrm>
          <a:prstGeom prst="ellipse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315968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251959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رفع كفاءة الفريق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7548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Team Efficiency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931920"/>
            <a:ext cx="5120640" cy="19202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3931920"/>
            <a:ext cx="73152" cy="19202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49440" y="4297680"/>
            <a:ext cx="640080" cy="6400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4315968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51959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تقليل الجهد الضائع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548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Less Wasted Effort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ليش الآن؟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91840" cy="1828800"/>
          </a:xfrm>
          <a:prstGeom prst="roundRect">
            <a:avLst/>
          </a:prstGeom>
          <a:solidFill>
            <a:srgbClr val="0A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المنتج قوي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860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Strong 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291840" cy="1828800"/>
          </a:xfrm>
          <a:prstGeom prst="roundRect">
            <a:avLst/>
          </a:prstGeom>
          <a:solidFill>
            <a:srgbClr val="0A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7373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8288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السوق موجود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2860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Market Exists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291840" cy="1828800"/>
          </a:xfrm>
          <a:prstGeom prst="roundRect">
            <a:avLst/>
          </a:prstGeom>
          <a:solidFill>
            <a:srgbClr val="0A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7373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8288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العملاء موجودين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2860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Clients Are There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931920"/>
            <a:ext cx="7589520" cy="2011680"/>
          </a:xfrm>
          <a:prstGeom prst="round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3931920"/>
            <a:ext cx="75895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4206240"/>
            <a:ext cx="6675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7B8BAD"/>
                </a:solidFill>
                <a:latin typeface="Calibri"/>
              </a:defRPr>
            </a:pPr>
            <a:r>
              <a:t>اللي ناقص هو: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754880"/>
            <a:ext cx="6675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96167"/>
                </a:solidFill>
                <a:latin typeface="Calibri"/>
              </a:defRPr>
            </a:pPr>
            <a:r>
              <a:t>"نظام يوجه البيع"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4114800"/>
            <a:ext cx="2743200" cy="2743200"/>
          </a:xfrm>
          <a:prstGeom prst="ellipse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914400"/>
            <a:ext cx="2743200" cy="2743200"/>
          </a:xfrm>
          <a:prstGeom prst="ellipse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66751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194560"/>
            <a:ext cx="6675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محايد يحل مشكلة السوق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08960"/>
            <a:ext cx="66751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00D4AA"/>
                </a:solidFill>
                <a:latin typeface="Calibri"/>
              </a:defRPr>
            </a:pPr>
            <a:r>
              <a:t>AI Sales OS يضمن أننا</a:t>
            </a:r>
            <a:br/>
            <a:r>
              <a:t>نبيع هذا الحل بالشكل الصحيح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754880"/>
            <a:ext cx="66751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5120640"/>
            <a:ext cx="6675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7B8BAD"/>
                </a:solidFill>
                <a:latin typeface="Calibri"/>
              </a:defRPr>
            </a:pPr>
            <a:r>
              <a:t>AI Sales OS  |  Built for Muhide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