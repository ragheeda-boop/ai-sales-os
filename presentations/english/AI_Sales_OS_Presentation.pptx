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0972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771A"/>
                </a:solidFill>
                <a:latin typeface="Calibri"/>
              </a:defRPr>
            </a:pPr>
            <a:r>
              <a:t>MUHIDE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AI SALES OS v4.0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771A"/>
                </a:solidFill>
                <a:latin typeface="Calibri"/>
              </a:defRPr>
            </a:pPr>
            <a:r>
              <a:t>Autonomous Sales Operating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Score  →  Task  →  Sequence  →  Track  →  Meet  →  Analyze  →  Opportunity  →  Calibrate  →  Better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A6A6A"/>
                </a:solidFill>
                <a:latin typeface="Calibri"/>
              </a:defRPr>
            </a:pPr>
            <a:r>
              <a:t>44,875 Contacts  |  15,407 Companies  |  17 Scripts  |  16-Step Pipeline  |  0 Middleware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Version 4.1  |  March 2026  |  Owner: Ragheed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The Autonomous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Every morning at 7:00 AM KSA — the system runs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1. 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771A"/>
                </a:solidFill>
                <a:latin typeface="Calibri"/>
              </a:defRPr>
            </a:pPr>
            <a:r>
              <a:t>daily_sync.py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Apollo → Notion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4688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246888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2. Enrich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771A"/>
                </a:solidFill>
                <a:latin typeface="Calibri"/>
              </a:defRPr>
            </a:pPr>
            <a:r>
              <a:t>job_postings_enricher.py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Intent scoring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4688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645920"/>
            <a:ext cx="246888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3.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771A"/>
                </a:solidFill>
                <a:latin typeface="Calibri"/>
              </a:defRPr>
            </a:pPr>
            <a:r>
              <a:t>lead_score.py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0-100 + HOT/WARM/COLD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645920"/>
            <a:ext cx="24688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1645920"/>
            <a:ext cx="246888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8288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4.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194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771A"/>
                </a:solidFill>
                <a:latin typeface="Calibri"/>
              </a:defRPr>
            </a:pPr>
            <a:r>
              <a:t>action_ready_updater.py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5146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5-condition 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657600"/>
            <a:ext cx="24688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657600"/>
            <a:ext cx="246888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5. Task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206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771A"/>
                </a:solidFill>
                <a:latin typeface="Calibri"/>
              </a:defRPr>
            </a:pPr>
            <a:r>
              <a:t>auto_tasks.py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526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SLA-based tasks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0" y="3657600"/>
            <a:ext cx="24688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3657600"/>
            <a:ext cx="246888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11879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6. Sequence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79" y="4206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771A"/>
                </a:solidFill>
                <a:latin typeface="Calibri"/>
              </a:defRPr>
            </a:pPr>
            <a:r>
              <a:t>auto_sequence.py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79" y="4526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Apollo enrollment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3657600"/>
            <a:ext cx="24688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7920" y="3657600"/>
            <a:ext cx="246888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7. Track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206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771A"/>
                </a:solidFill>
                <a:latin typeface="Calibri"/>
              </a:defRPr>
            </a:pPr>
            <a:r>
              <a:t>analytics_tracker.py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526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Engagement sync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3657600"/>
            <a:ext cx="2468880" cy="16459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61120" y="3657600"/>
            <a:ext cx="246888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38404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Calibri"/>
              </a:defRPr>
            </a:pPr>
            <a:r>
              <a:t>8. Brief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4206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8771A"/>
                </a:solidFill>
                <a:latin typeface="Calibri"/>
              </a:defRPr>
            </a:pPr>
            <a:r>
              <a:t>morning_brief.py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98280" y="45262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Daily report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Phase 3.5:  meeting_tracker.py → meeting_analyzer.py → opportunity_manager.py  |  Meet → Analyze → Opportunity  |  Weekly (Sundays):  score_calibrator.py  →  Self-learning calibration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End-to-end autonomous pipeline — zero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103120" cy="1463040"/>
          </a:xfrm>
          <a:prstGeom prst="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Apollo.io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44,875 Contacts</a:t>
            </a:r>
            <a:br/>
            <a:r>
              <a:t>15,407 Companies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828800"/>
            <a:ext cx="2103120" cy="1463040"/>
          </a:xfrm>
          <a:prstGeom prst="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Python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77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17 ScriptsSync + Score + Act + Meet</a:t>
            </a:r>
            <a:br/>
            <a: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5394960" y="1828800"/>
            <a:ext cx="2103120" cy="1463040"/>
          </a:xfrm>
          <a:prstGeom prst="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Notion 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77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7 Databases</a:t>
            </a:r>
            <a:br/>
            <a:r>
              <a:t>HOT/WARM/COLD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828800"/>
            <a:ext cx="2103120" cy="1463040"/>
          </a:xfrm>
          <a:prstGeom prst="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GitHub 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377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16-Step Pipeline7:00 AM KSA</a:t>
            </a:r>
            <a:br/>
            <a: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20" y="1828800"/>
            <a:ext cx="2103120" cy="1463040"/>
          </a:xfrm>
          <a:prstGeom prst="rect">
            <a:avLst/>
          </a:prstGeom>
          <a:solidFill>
            <a:srgbClr val="1E1E1E"/>
          </a:solidFill>
          <a:ln w="25400">
            <a:solidFill>
              <a:srgbClr val="E877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19659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8771A"/>
                </a:solidFill>
                <a:latin typeface="Calibri"/>
              </a:defRPr>
            </a:pPr>
            <a:r>
              <a:t>Apollo Sequences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3774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24 Sequences</a:t>
            </a:r>
            <a:br/>
            <a:r>
              <a:t>6 Email 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No Middleware — Pure Python + GitHub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Triple Dedup — Apollo ID + Email + seen_ids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Safe Booleans — Only write if Apollo returns field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212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✓  Phase-Gated — Each phase validated before next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0" y="5943600"/>
            <a:ext cx="3931920" cy="45720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0" y="59710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Cost: FREE — 450 min/month of 2,000 free tier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Data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918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71A"/>
                </a:solidFill>
                <a:latin typeface="Calibri"/>
              </a:defRPr>
            </a:pPr>
            <a:r>
              <a:t>44,875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Contacts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280160"/>
            <a:ext cx="32918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71A"/>
                </a:solidFill>
                <a:latin typeface="Calibri"/>
              </a:defRPr>
            </a:pPr>
            <a:r>
              <a:t>15,407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Companies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280160"/>
            <a:ext cx="32918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554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71A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560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Scripts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79"/>
            <a:ext cx="32918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79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71A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Pipeline Steps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840479"/>
            <a:ext cx="32918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11479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71A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120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Sequences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840479"/>
            <a:ext cx="32918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114799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71A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1206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Claude 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Lead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lead_score.py — Writes Score (0-100) + Lead Tier (HOT/WARM/COLD)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8771A"/>
                </a:solidFill>
                <a:latin typeface="Calibri"/>
              </a:defRPr>
            </a:pPr>
            <a:r>
              <a:t>Score = (Intent × 10%) + (Engagement × 10%) + (Company Size × 45%) + (Seniority × 35%)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329184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3291840" cy="54864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3A3A"/>
                </a:solidFill>
                <a:latin typeface="Calibri"/>
              </a:defRPr>
            </a:pPr>
            <a:r>
              <a:t>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Score: ≥ 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CALL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24h SLA  |  Critical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743200"/>
            <a:ext cx="329184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E8A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743200"/>
            <a:ext cx="3291840" cy="54864"/>
          </a:xfrm>
          <a:prstGeom prst="rect">
            <a:avLst/>
          </a:prstGeom>
          <a:solidFill>
            <a:srgbClr val="E8A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A01A"/>
                </a:solidFill>
                <a:latin typeface="Calibri"/>
              </a:defRPr>
            </a:pPr>
            <a:r>
              <a:t>WARM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Score: 50-79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FOLLOW-UP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48h SLA  |  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2743200"/>
            <a:ext cx="3291840" cy="2286000"/>
          </a:xfrm>
          <a:prstGeom prst="rect">
            <a:avLst/>
          </a:prstGeom>
          <a:solidFill>
            <a:srgbClr val="F5F5F5"/>
          </a:solidFill>
          <a:ln w="25400">
            <a:solidFill>
              <a:srgbClr val="4A8A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2743200"/>
            <a:ext cx="3291840" cy="54864"/>
          </a:xfrm>
          <a:prstGeom prst="rect">
            <a:avLst/>
          </a:prstGeom>
          <a:solidFill>
            <a:srgbClr val="4A8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8AC7"/>
                </a:solidFill>
                <a:latin typeface="Calibri"/>
              </a:defRPr>
            </a:pPr>
            <a:r>
              <a:t>COLD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Calibri"/>
              </a:defRPr>
            </a:pPr>
            <a:r>
              <a:t>Score: &lt;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840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Monitor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114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No SLA  |  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v1.1 weights — Size + Seniority weighted high because Intent + Engagement data is sparse. 80% COLD is normal for cold Apollo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852160"/>
            <a:ext cx="10698480" cy="548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8978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Future v2.0:  Intent(30%) + Engagement(25%) + Signals(25%) + Size(10%) + Seniority(10%)  —  Activate only when signals data exists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16-Step Daily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GitHub Actions — Daily at 7:00 AM KSA (04:00 UTC)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Repository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3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1488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1488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Python 3.11 + pip cache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788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Dependencies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83279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42899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289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289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daily_sync.py --hours 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023360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Enrich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job_postings_enricher.py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663440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70915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09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7091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lead_score.py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03519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4923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3492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3492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action_ready_updater.py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1463040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150876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15087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auto_tasks.py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2103120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214883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1488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Sequence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21488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auto_sequence.py --limit 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2743200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278892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Analytics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2788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analytics_tracker.py --days 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3383279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342899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342899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Health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0" y="342899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health_check.py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0" y="4023360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4069080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069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Brief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40690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morning_brief.py --output file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0" y="4663440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0" y="470915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23760" y="470915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0" y="470915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Logs (30-day retention)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0" y="5303519"/>
            <a:ext cx="411480" cy="4114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0" y="5349239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223760" y="53492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Notify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534923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A6A6A"/>
                </a:solidFill>
                <a:latin typeface="Calibri"/>
              </a:defRPr>
            </a:pPr>
            <a:r>
              <a:t>Alert on failure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6126480"/>
            <a:ext cx="10698480" cy="457200"/>
          </a:xfrm>
          <a:prstGeom prst="rect">
            <a:avLst/>
          </a:prstGeom>
          <a:solidFill>
            <a:srgbClr val="2A1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8771A"/>
                </a:solidFill>
                <a:latin typeface="Calibri"/>
              </a:defRPr>
            </a:pPr>
            <a:r>
              <a:t>Weekly (Sundays):  score_calibrator.py --days 30 --export  →  Self-learning calibration (review-only, no auto-apply)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v4.0 — 5 New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Completing the autonomous sales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92608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71A"/>
                </a:solidFill>
                <a:latin typeface="Calibri"/>
              </a:defRPr>
            </a:pPr>
            <a:r>
              <a:t>job_postings_enricher.py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Intent Proxy  |  508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508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Uses Apollo Job Postings API to score company hiring intent (0-100).</a:t>
            </a:r>
            <a:br/>
            <a:r>
              <a:t>Volume + Recency + Relevance + Growth signals. 7-day cache.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292608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71A"/>
                </a:solidFill>
                <a:latin typeface="Calibri"/>
              </a:defRPr>
            </a:pPr>
            <a:r>
              <a:t>auto_sequence.py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Sequence Enrollment  |  442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146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Maps (Tier, Role) → Apollo Sequence. 24 sequences across</a:t>
            </a:r>
            <a:br/>
            <a:r>
              <a:t>2 tiers × 5 roles. Round-robin sender rotation.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474720"/>
            <a:ext cx="292608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71A"/>
                </a:solidFill>
                <a:latin typeface="Calibri"/>
              </a:defRPr>
            </a:pPr>
            <a:r>
              <a:t>analytics_tracker.py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Engagement Sync  |  480 lines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204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Pulls Apollo Analytics. Updates Notion: Replied, Opened, Sent.</a:t>
            </a:r>
            <a:br/>
            <a:r>
              <a:t>Generates performance reports by seniority and size.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292608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526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71A"/>
                </a:solidFill>
                <a:latin typeface="Calibri"/>
              </a:defRPr>
            </a:pPr>
            <a:r>
              <a:t>score_calibrator.py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Self-Learning  |  448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45262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Analyzes outcomes vs scores. Recommends weight adjustments.</a:t>
            </a:r>
            <a:br/>
            <a:r>
              <a:t>Safety: max 10% change, min 5% per component.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486400"/>
            <a:ext cx="292608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71A"/>
                </a:solidFill>
                <a:latin typeface="Calibri"/>
              </a:defRPr>
            </a:pPr>
            <a:r>
              <a:t>morning_brief.py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52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Daily Brief  |  400 lines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53212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Calibri"/>
              </a:defRPr>
            </a:pPr>
            <a:r>
              <a:t>Urgent calls, today's tasks, recent replies, pipeline summary,</a:t>
            </a:r>
            <a:br/>
            <a:r>
              <a:t>email performance. Everything a rep needs each morning.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Action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A6A6A"/>
                </a:solidFill>
                <a:latin typeface="Calibri"/>
              </a:defRPr>
            </a:pPr>
            <a:r>
              <a:t>auto_tasks.py + action_ready_updater.py — SLA-based task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Action Ready — 5 Gating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20040" cy="27432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2996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Lead Score ≥ 50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423160"/>
            <a:ext cx="320040" cy="27432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414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44144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Do Not Call = False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320040" cy="27432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5292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529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Outreach Status NOT in {DNC, Bounced, Bad Data}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320040" cy="27432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2644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264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Stage NOT 'Customer' or 'Churned'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320040" cy="27432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75887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675887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Has email OR phone number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Priority Rules &amp; SLA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11680"/>
            <a:ext cx="5029200" cy="1097280"/>
          </a:xfrm>
          <a:prstGeom prst="rect">
            <a:avLst/>
          </a:prstGeom>
          <a:solidFill>
            <a:srgbClr val="FFF0F0"/>
          </a:solidFill>
          <a:ln w="25400">
            <a:solidFill>
              <a:srgbClr val="E83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2103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3A3A"/>
                </a:solidFill>
                <a:latin typeface="Calibri"/>
              </a:defRPr>
            </a:pPr>
            <a:r>
              <a:t>HOT (≥ 80)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514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CALL  |  Phone  |  24h SLA  |  Critical Priority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291840"/>
            <a:ext cx="5029200" cy="1097280"/>
          </a:xfrm>
          <a:prstGeom prst="rect">
            <a:avLst/>
          </a:prstGeom>
          <a:solidFill>
            <a:srgbClr val="FFF8E8"/>
          </a:solidFill>
          <a:ln w="25400">
            <a:solidFill>
              <a:srgbClr val="E8A0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383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A01A"/>
                </a:solidFill>
                <a:latin typeface="Calibri"/>
              </a:defRPr>
            </a:pPr>
            <a:r>
              <a:t>WARM (50-79)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794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FOLLOW-UP  |  Email  |  48h SLA  |  High Priority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2120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Duplicate prevention — checks for existing open tasks before creating new ones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778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Auto sequence enrollment — 24 Apollo sequences across 2 tiers × 5 roles × sender variants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Round-robin sender rotation — ragheed + ibrahim email accounts (6 total)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Code Base — 17 Active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71A"/>
                </a:solidFill>
                <a:latin typeface="Calibri"/>
              </a:defRPr>
            </a:pPr>
            <a:r>
              <a:t>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71A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051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71A"/>
                </a:solidFill>
                <a:latin typeface="Calibri"/>
              </a:defRPr>
            </a:pPr>
            <a:r>
              <a:t>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51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71A"/>
                </a:solidFill>
                <a:latin typeface="Calibri"/>
              </a:defRPr>
            </a:pPr>
            <a:r>
              <a:t>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771A"/>
                </a:solidFill>
                <a:latin typeface="Calibri"/>
              </a:defRPr>
            </a:pPr>
            <a: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356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daily_sync.py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435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Sync Engine v2.1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874519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3852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lead_score.py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385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Score + Tier Writer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377440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441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auto_tasks.py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Action Engine (SLA)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80360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44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action_ready_updater.py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944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5-Condition Gating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447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health_check.py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447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Pipeline Validator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886200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50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constants.py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3950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Unified Constants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389120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453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notion_helpers.py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453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Notion API Utils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371600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4356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webhook_server.py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14356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Apollo Webhooks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1874519"/>
            <a:ext cx="5303520" cy="411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938527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verify_links.py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193852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Link Verifier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377440"/>
            <a:ext cx="5303520" cy="41148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441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71A"/>
                </a:solidFill>
                <a:latin typeface="Calibri"/>
              </a:defRPr>
            </a:pPr>
            <a:r>
              <a:t>job_postings_enricher.py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Intent Proxy  [v4.0]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2880360"/>
            <a:ext cx="5303520" cy="41148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9443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71A"/>
                </a:solidFill>
                <a:latin typeface="Calibri"/>
              </a:defRPr>
            </a:pPr>
            <a:r>
              <a:t>auto_sequence.py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29443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Sequence Enrollment  [v4.0]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383280"/>
            <a:ext cx="5303520" cy="41148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40" y="344728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71A"/>
                </a:solidFill>
                <a:latin typeface="Calibri"/>
              </a:defRPr>
            </a:pPr>
            <a:r>
              <a:t>analytics_tracker.py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4472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Engagement Sync  [v4.0]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886200"/>
            <a:ext cx="5303520" cy="41148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395020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71A"/>
                </a:solidFill>
                <a:latin typeface="Calibri"/>
              </a:defRPr>
            </a:pPr>
            <a:r>
              <a:t>score_calibrator.py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395020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Self-Learning  [v4.0]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4389120"/>
            <a:ext cx="5303520" cy="411480"/>
          </a:xfrm>
          <a:prstGeom prst="rect">
            <a:avLst/>
          </a:prstGeom>
          <a:solidFill>
            <a:srgbClr val="FEF3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445312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71A"/>
                </a:solidFill>
                <a:latin typeface="Calibri"/>
              </a:defRPr>
            </a:pPr>
            <a:r>
              <a:t>morning_brief.py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4453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A6A6A"/>
                </a:solidFill>
                <a:latin typeface="Calibri"/>
              </a:defRPr>
            </a:pPr>
            <a:r>
              <a:t>Daily Brief  [v4.0]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A6A6A"/>
                </a:solidFill>
                <a:latin typeface="Calibri"/>
              </a:defRPr>
            </a:pPr>
            <a:r>
              <a:t>Tech Stack:  Python 3.11  |  Notion API  |  Apollo API  |  GitHub Actions  |  Zero Middleware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1A"/>
                </a:solidFill>
                <a:latin typeface="Calibri"/>
              </a:defRPr>
            </a:pPr>
            <a:r>
              <a:t>Execution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2651760" cy="4572000"/>
          </a:xfrm>
          <a:prstGeom prst="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5176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1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ACTIVATE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✓ 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Full sync running (44,875 + 15,407)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Lead scoring v1.1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Seniority normalization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8055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Safe boolean writing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280160"/>
            <a:ext cx="2651760" cy="4572000"/>
          </a:xfrm>
          <a:prstGeom prst="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280160"/>
            <a:ext cx="265176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41731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1488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✓  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auto_tasks.py — SLA 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action_ready_updater.py — 5 gates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8404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health_check.py — 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48055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12 Claude Skills (100% eval)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280160"/>
            <a:ext cx="2651760" cy="4572000"/>
          </a:xfrm>
          <a:prstGeom prst="rect">
            <a:avLst/>
          </a:prstGeom>
          <a:solidFill>
            <a:srgbClr val="F0FFF0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41731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ENRICH (v4.0)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1488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✓  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Job postings intent proxy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Auto sequence enrollment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8404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Analytics &amp; engagement 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48055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✓  Self-learning calibration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280160"/>
            <a:ext cx="2651760" cy="4572000"/>
          </a:xfrm>
          <a:prstGeom prst="rect">
            <a:avLst/>
          </a:prstGeom>
          <a:solidFill>
            <a:srgbClr val="F5F5F5"/>
          </a:solidFill>
          <a:ln w="254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98280" y="1280160"/>
            <a:ext cx="265176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80" y="141731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771A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1737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1A"/>
                </a:solidFill>
                <a:latin typeface="Calibri"/>
              </a:defRPr>
            </a:pPr>
            <a:r>
              <a:t>OPTIMIZE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1488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A6A6A"/>
                </a:solidFill>
                <a:latin typeface="Calibri"/>
              </a:defRPr>
            </a:pPr>
            <a:r>
              <a:t>○  PLANNED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25603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6A"/>
                </a:solidFill>
                <a:latin typeface="Calibri"/>
              </a:defRPr>
            </a:pPr>
            <a:r>
              <a:t>○  Odoo ERP integration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20040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6A"/>
                </a:solidFill>
                <a:latin typeface="Calibri"/>
              </a:defRPr>
            </a:pPr>
            <a:r>
              <a:t>○  Revenue pipeline tracking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384047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6A"/>
                </a:solidFill>
                <a:latin typeface="Calibri"/>
              </a:defRPr>
            </a:pPr>
            <a:r>
              <a:t>○  Advanced analytics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480559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A6A6A"/>
                </a:solidFill>
                <a:latin typeface="Calibri"/>
              </a:defRPr>
            </a:pPr>
            <a:r>
              <a:t>○  Full end-to-end automation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26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71A"/>
                </a:solidFill>
                <a:latin typeface="Calibri"/>
              </a:defRPr>
            </a:pPr>
            <a:r>
              <a:t>Overall: 95%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0" y="6172200"/>
            <a:ext cx="8686800" cy="18288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0" y="6172200"/>
            <a:ext cx="8252460" cy="182880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877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2860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Push code to GitHub + activate daily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8346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880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Run first full autonomous loop 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383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429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Monitor weekly calibration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9319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771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9776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Phase 4: Odoo ERP integration + revenue tracking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61264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771A"/>
                </a:solidFill>
                <a:latin typeface="Calibri"/>
              </a:defRPr>
            </a:pPr>
            <a:r>
              <a:t>AI SALES OS v4.0 — Autonomous Sales Operating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644652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A6A6A"/>
                </a:solidFill>
                <a:latin typeface="Calibri"/>
              </a:defRPr>
            </a:pPr>
            <a:r>
              <a:t>Built by Ragheed  |  March 2026  |  Apollo + Python + Notion + GitHub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