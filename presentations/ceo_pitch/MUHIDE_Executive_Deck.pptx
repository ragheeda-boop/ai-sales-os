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credit trade moves billions.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trust has no infrastructure.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200400" cy="18288"/>
          </a:xfrm>
          <a:prstGeom prst="rect">
            <a:avLst/>
          </a:prstGeom>
          <a:solidFill>
            <a:srgbClr val="403D38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&amp; Authenticating The Open Credit Trade Ecosystem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Every Transaction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C-Level Only —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B2B credit trade: the infrastructure has not kept pace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large. The risk is invisible. The cost is real.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1993392" cy="45720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08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2.1T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B2B trade volume (est.)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78608" y="141732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417320"/>
            <a:ext cx="1993392" cy="45720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508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Net-90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88336" y="19202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credit terms — with no verified trail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41732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1417320"/>
            <a:ext cx="1993392" cy="45720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508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09744" y="19202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MOJ commercial disputes involve proof failures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21424" y="141732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1417320"/>
            <a:ext cx="1993392" cy="45720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1508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31152" y="19202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receivables financing without verified documents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747772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97480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delays of 60–180 days are standard practice — not exceptions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08610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035808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courts are backlogged; litigation cycles run 18–36 months without strong documentation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42442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74136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NBFIs reject trade receivables portfolios they cannot independently verify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62756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12464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credit insurance is unavailable to most SMEs — because transaction data does not exist in verifiable form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risk in open credit trade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unpaid invoice is a symptom. The disease is a system built on unverifiable trust.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48132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that cannot be enforced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190195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confirmation is not a legal instrument. When a buyer disputes, there is no court-ready evidence — only a conversation thread.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137160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48132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disputes with no proof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190195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delivered. Buyer claims otherwise. A paper delivery note is your only defense. Collection becomes litigation — years, not days.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37160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48132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financiers won't touch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1344" y="190195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price risk they cannot see. Without verified records, your receivables portfolio is rejected for financing before a conversation begins.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8072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4436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fraud: no detection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22783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are manipulated. The same receivable can be financed twice across two banks — with nothing to catch it until the loss is realized.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64408" y="269748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4136" y="28072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294436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as a cash trap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74136" y="322783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Net-60/90 is standard. Without a verified trail, the seller has no leverage and no path to early collection or financing programs.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71616" y="269748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28072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294436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credit insurance: denied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81344" y="322783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require documented proof of transaction and delivery. Without it, coverage is denied — full exposure on every credit sale.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24528"/>
            <a:ext cx="457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26110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operational risk — it is a balance sheet risk that compounds silently with every credit sale made without a verifiable paper trail.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— THE HIDDEN RISK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54864" cy="749808"/>
          </a:xfrm>
          <a:prstGeom prst="rect">
            <a:avLst/>
          </a:prstGeom>
          <a:solidFill>
            <a:srgbClr val="CD6A1D"/>
          </a:solidFill>
          <a:ln w="12700">
            <a:solidFill>
              <a:srgbClr val="CD6A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proof fails — and what is missing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businesses rely on were not designed to be evidence. They were designed to be convenient.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26517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426464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CONTRACTS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170992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Unsigned copies circulate with no version control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11226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Wet signatures cannot prove authorized identity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251460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MOJ courts require certified originals — which are lost, altered, or missing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3716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1371600"/>
            <a:ext cx="26517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426464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EMAIL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74136" y="170992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Messages are deleted, edited, or screenshotted selectively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74136" y="211226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cryptographic link between sender and legal entity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74136" y="251460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Saudi E-Transactions Law does not recognize informal digital messages as enforceable consent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13716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371600"/>
            <a:ext cx="26517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426464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DELIVERY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81344" y="170992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Signed by warehouse staff — not the authorized representative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1344" y="211226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GPS, timestamp, or photo evidence tied to the record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81344" y="251460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Banks and insurers cannot use this as underlying asset evidence — financing blocked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163824"/>
            <a:ext cx="8229600" cy="91440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1868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IS MISSING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456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675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record no party can alter after execution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37560" y="3456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enforceable e-agreements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675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identity to commitment under Saudi law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3456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delivery evidence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3675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photo, and identity proof — defensible in court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224528"/>
            <a:ext cx="45720" cy="658368"/>
          </a:xfrm>
          <a:prstGeom prst="rect">
            <a:avLst/>
          </a:prstGeom>
          <a:solidFill>
            <a:srgbClr val="CD6A1D"/>
          </a:solidFill>
          <a:ln w="12700">
            <a:solidFill>
              <a:srgbClr val="CD6A1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6110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your business will face a dispute — it is whether, when it does, you will have evidence or just a story.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— WHY TRADITIONAL PROOF FAILS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operational problem.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structural gap in trust, legal enforceability, and financial access.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651760" cy="1463040"/>
          </a:xfrm>
          <a:prstGeom prst="rect">
            <a:avLst/>
          </a:prstGeom>
          <a:solidFill>
            <a:srgbClr val="2A2725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identity link between who signed, who received, and who is legally liable. The entire chain is assumed — not proven.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965960"/>
            <a:ext cx="2651760" cy="1463040"/>
          </a:xfrm>
          <a:prstGeom prst="rect">
            <a:avLst/>
          </a:prstGeom>
          <a:solidFill>
            <a:srgbClr val="2A2725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2423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 that satisfies Saudi courts or E-Transactions Law. Disputes enter litigation with near-equal footing — regardless of the facts.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965960"/>
            <a:ext cx="2651760" cy="1463040"/>
          </a:xfrm>
          <a:prstGeom prst="rect">
            <a:avLst/>
          </a:prstGeom>
          <a:solidFill>
            <a:srgbClr val="2A2725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gap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08776" y="2423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receivables means no financing, no TCI, no early payment programs. The working capital gap is structural, not cyclical.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8229600" cy="18288"/>
          </a:xfrm>
          <a:prstGeom prst="rect">
            <a:avLst/>
          </a:prstGeom>
          <a:solidFill>
            <a:srgbClr val="403D38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Vision 2030 demands a digitized, trusted trade ecosystem. The infrastructure to deliver it does not yet exist at scale — for most businesses operating today.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— BRIDGE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"/>
            <a:ext cx="1005840" cy="256032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37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MUHIDE: the governance layer open credit trade has always needed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document tool. Not a CRM. A trust infrastructure that makes B2B trade verifiable, enforceable, and financeable.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993392" cy="54864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9222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governed by a unified digital agreement — legally binding, identity-authenticated, and immutable from the moment it is signed.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78608" y="1691640"/>
            <a:ext cx="1993392" cy="54864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79222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2103120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verified by GPS, photo, and authorized identity — creating an unassailable record tied to the original purchase order.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1691640"/>
            <a:ext cx="1993392" cy="54864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79222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0016" y="2103120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E-signatures compliant with Saudi E-Transactions Law. Smart contracts on blockchain. Documents that hold in court without additional attestation.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21424" y="1691640"/>
            <a:ext cx="1993392" cy="54864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79222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enablement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21424" y="2103120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blockchain-backed invoices unlock receivables financing, payables programs, and trade credit insurance for buyers and sellers.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24528"/>
            <a:ext cx="45720" cy="658368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26110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in Every Transaction" — not as a tagline, but as an auditable, bankable, court-defensible fact.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MUHIDE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One continuous chain of proof.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closes a gap that traditional tools leave permanently open.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6916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 via Nafath (national ID) and Wathq (company KYB). Every signatory is bound to their legal entity — no anonymous commitments in any transaction.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8229600" cy="68580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231136"/>
            <a:ext cx="457200" cy="45720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212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governance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48716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sale &amp; purchase agreements signed via Sadq — E-Transactions Law compliant. Sealed on blockchain at execution. Immutable. Timestamped. Court-ready.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8229600" cy="68580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26664"/>
            <a:ext cx="457200" cy="45720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0083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governance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8269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authenticated by GPS coordinates, photos, video, and digital acceptance — linked to the original order on the blockchain. Disputes collapse under the evidence.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8229600" cy="68580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822192"/>
            <a:ext cx="457200" cy="45720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38039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access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7822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blockchain-backed invoices unlocked for receivables financing, payables programs, and trade credit insurance — through MUHIDE's partner network.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translated into outcomes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capability exists to eliminate a specific category of business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1732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BLOCKCHAIN-SEALED RECORDS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62763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proof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199339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cannot be altered or denied by either party — at any point after execution. Your legal position in any dispute.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3258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41732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VIA SADQ &amp; NAFATH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74136" y="162763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enforceability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4136" y="199339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that satisfy Saudi E-Transactions Law and are admissible before MOJ courts — without additional notarization.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13258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41732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PHOTO &amp; VIDEO DELIVERY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81344" y="162763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fulfillment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81344" y="199339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a court, bank, or insurer will accept — because it is authenticated at the moment of occurrence, not reconstructed.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346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 VIA WATHQ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304495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trust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" y="341071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business identity before any transaction begins. Every financier and insurer in the ecosystem sees the same verified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27432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8346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VIA TASSNIEF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74136" y="304495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74136" y="341071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creditworthiness assessed before credit terms are extended. Financiers and TCI providers underwrite with data, not guesswork.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71616" y="27432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28346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COMPLIANCE ENGINE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81344" y="304495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eligibility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81344" y="341071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generated on MUHIDE is blockchain-verified and ZATCA-aligned — immediately eligible for receivables financing.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→ BUSINESS VALUE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ecosystem — not a standalone tool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 connects every participant in the trade cycle on a single, governed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16736"/>
            <a:ext cx="2743200" cy="512064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1673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316736"/>
            <a:ext cx="1828800" cy="512064"/>
          </a:xfrm>
          <a:prstGeom prst="rect">
            <a:avLst/>
          </a:prstGeom>
          <a:solidFill>
            <a:srgbClr val="F2F0EB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1673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ERP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04288" y="1536192"/>
            <a:ext cx="886968" cy="27432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16736"/>
            <a:ext cx="1828800" cy="512064"/>
          </a:xfrm>
          <a:prstGeom prst="rect">
            <a:avLst/>
          </a:prstGeom>
          <a:solidFill>
            <a:srgbClr val="F2F0EB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31673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536192"/>
            <a:ext cx="896112" cy="27432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93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COMPLIANCE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36292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2860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Nafath — national identity authentication for all signatories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11196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609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Wathq — company KYB and legal entity verification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8610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3580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Sadq — legally compliant e-signature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6100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107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 — court-ready document submission (in progress)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9933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RISK PARTNERS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6292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2860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SNB &amp; SAB — receivables financing and working capital programs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11196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6609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Tarabut — open banking and credit risk underwriting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08610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3580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Tassnief (SIMAH) — credit scoring for buyers and sellers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46100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107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partners — trade credit insurance on every verified transaction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83590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7856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 — debt collection for defaulted receivables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INTEGRATIONS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platform. Three distinct forms of value.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 resolves a different category of risk for every participant in the transaction.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65176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7160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revenue. Accelerate your cash.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12598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075688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Irrefutable delivery proof — disputes resolved in days, not years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59232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542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Blockchain-verified invoices accepted for immediate receivables financing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05866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008376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credit insurance available on every verified transaction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525012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47472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agreements that hold without expensive legal proceedings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1325880"/>
            <a:ext cx="265176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137160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74136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your supply chain. Control your liability.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1984248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74136" y="212598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075688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supplier KYB-verified before any order is placed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4136" y="259232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2542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authenticated independently — payment obligation triggers only on verified receipt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74136" y="305866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3008376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eliminates procurement fraud and unauthorized commitments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74136" y="3525012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1296" y="347472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— no manual reconciliation, no data entry exposure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71616" y="1325880"/>
            <a:ext cx="265176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37160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Financiers &amp; Insurers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81344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 with evidence. Deploy capital with confidence.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71616" y="1984248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212598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2075688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Blockchain-verified receivables with full transaction lineage — no manual due diligence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81344" y="259232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2542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identity verified at the point of transaction creation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81344" y="305866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3008376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eliminated by construction — the same invoice cannot be financed twice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81344" y="3525012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8504" y="347472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provisioning improved by verified, low-default transaction history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BY STAKEHOLDER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— across the balance sheet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MUHIDE's value is measured in risk eliminated and capital unlocked — not features adopted.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8988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resolve disputes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delivery is irrefutably documented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32588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38988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70048" y="18288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0048" y="20482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invoices eligible for early payment programs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0016" y="132588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38988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91456" y="18288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financing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1456" y="20482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unfinanceable portfolios accepted by partner banks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21424" y="1325880"/>
            <a:ext cx="1993392" cy="109728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38988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12864" y="18288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exposure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12864" y="20482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architecture makes double-financing structurally impossible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62890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578608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expected credit loss provisioning reduced for financiers holding MUHIDE-verified receivables — a direct balance sheet benefit for lenders.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01294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962656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credit insurance becomes accessible to SMEs previously uninsurable — expanding their ability to offer credit terms and win larger buyers.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96996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46704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fraud and unauthorized commitments eliminated by mandatory KYB and identity-linked digital agreements at every step.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24528"/>
            <a:ext cx="45720" cy="658368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26110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reduces disputes, shortens cash cycles, and unlocks financing changes the economics of every credit sale you make.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151214"/>
          </a:solidFill>
          <a:ln w="12700">
            <a:solidFill>
              <a:srgbClr val="1512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traction — validated by the market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 is operational. The ecosystem is live. The proof of concept is the platform itself.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16736"/>
            <a:ext cx="1993392" cy="10058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sellers onboarded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78608" y="1316736"/>
            <a:ext cx="1993392" cy="10058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37160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70048" y="1828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banks live (SNB, SAB)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1316736"/>
            <a:ext cx="1993392" cy="10058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37160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91456" y="1828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partners 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21424" y="1316736"/>
            <a:ext cx="1993392" cy="10058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37160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KSA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12864" y="1828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in-Kingdom for regulatory compliance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INTEGRATIONS LIVE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1178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76148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Nafath — national identity verification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5010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09981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Wathq — company KYB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488436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381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Sadq — legally compliant e-signature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2676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7647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Tassnief (SIMAH Agency) — credit scoring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24688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CREDENTIALS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811780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614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compliant — independently pen-tested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150108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0998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private blockchain — Proof-of-Authority consensus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488436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4381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encrypted — TDE on database + SSL pinning on mobile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826764"/>
            <a:ext cx="91440" cy="91440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77647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OutSystems — enterprise-grade, auditable, scalable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CREDIBILITY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" cy="118872"/>
          </a:xfrm>
          <a:prstGeom prst="ellipse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38328"/>
            <a:ext cx="45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338328"/>
            <a:ext cx="45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" y="292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MUHIDE THESIS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234440"/>
            <a:ext cx="1463040" cy="566928"/>
          </a:xfrm>
          <a:prstGeom prst="rect">
            <a:avLst/>
          </a:prstGeom>
          <a:solidFill>
            <a:srgbClr val="2A2725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344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87168" y="13350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26080" y="1234440"/>
            <a:ext cx="1463040" cy="566928"/>
          </a:xfrm>
          <a:prstGeom prst="rect">
            <a:avLst/>
          </a:prstGeom>
          <a:solidFill>
            <a:srgbClr val="2A2725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2344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07408" y="13350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1463040" cy="566928"/>
          </a:xfrm>
          <a:prstGeom prst="rect">
            <a:avLst/>
          </a:prstGeom>
          <a:solidFill>
            <a:srgbClr val="2A2725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344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7648" y="13350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463040" cy="566928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2344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0574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Saudi B2B trade is governed, authenticated, and financeable.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 is the infrastructure that makes this possible today.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8288"/>
          </a:xfrm>
          <a:prstGeom prst="rect">
            <a:avLst/>
          </a:prstGeom>
          <a:solidFill>
            <a:srgbClr val="403D38"/>
          </a:solidFill>
          <a:ln w="12700">
            <a:solidFill>
              <a:srgbClr val="403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muhide.com  |  info@muhide.com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C-Level Only — April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57C1E"/>
          </a:solidFill>
          <a:ln w="12700">
            <a:solidFill>
              <a:srgbClr val="F57C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MUHIDE — Governing &amp; Authenticating The Open Credit Trade Ecosystem</dc:title>
  <dc:subject>PptxGenJS Presentation</dc:subject>
  <dc:creator>MUHIDE Intelligence Layer</dc:creator>
  <cp:lastModifiedBy>MUHIDE Intelligence Layer</cp:lastModifiedBy>
  <cp:revision>1</cp:revision>
  <dcterms:created xsi:type="dcterms:W3CDTF">2026-04-05T13:48:41Z</dcterms:created>
  <dcterms:modified xsi:type="dcterms:W3CDTF">2026-04-05T13:48:41Z</dcterms:modified>
</cp:coreProperties>
</file>