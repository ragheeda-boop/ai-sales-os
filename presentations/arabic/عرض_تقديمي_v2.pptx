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771A"/>
                </a:solidFill>
                <a:latin typeface="Calibri"/>
              </a:defRPr>
            </a:pPr>
            <a:r>
              <a:t>MUHIDE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A6A6A"/>
                </a:solidFill>
                <a:latin typeface="Calibri"/>
              </a:defRPr>
            </a:pPr>
            <a:r>
              <a:t>الثقة في كل معاملة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نظام تشغيل البيع الذكي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771A"/>
                </a:solidFill>
                <a:latin typeface="Calibri"/>
              </a:defRPr>
            </a:pPr>
            <a:r>
              <a:t>AI Sales OS v4.0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A6A6A"/>
                </a:solidFill>
                <a:latin typeface="Calibri"/>
              </a:defRPr>
            </a:pPr>
            <a:r>
              <a:t>نظام ذاتي التشغيل — يعمل كل يوم بدون تدخل يدوي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846320"/>
            <a:ext cx="850392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89204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44,875 جهة اتصال   |   15,407 شركة   |   17 سكربت   |   صفر تكلفة وسيط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رغيد المدني  |  مارس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المشكلة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E83A3A"/>
                </a:solidFill>
                <a:latin typeface="Calibri"/>
              </a:defRPr>
            </a:pPr>
            <a:r>
              <a:t>لماذا احتجنا نظام مبيعات ذكي؟</a:t>
            </a:r>
          </a:p>
        </p:txBody>
      </p:sp>
      <p:sp>
        <p:nvSpPr>
          <p:cNvPr id="5" name="Oval 4"/>
          <p:cNvSpPr/>
          <p:nvPr/>
        </p:nvSpPr>
        <p:spPr>
          <a:xfrm>
            <a:off x="10241280" y="1874519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920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9052560" cy="7315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3A3A"/>
                </a:solidFill>
                <a:latin typeface="Calibri"/>
              </a:defRPr>
            </a:pPr>
            <a:r>
              <a:t>بيانات متفرقة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1284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معلومات العملاء موزعة على أدوات مختلفة — لا مصدر موحّد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0" y="2743200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0" y="2788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97480"/>
            <a:ext cx="9052560" cy="7315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7706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3A3A"/>
                </a:solidFill>
                <a:latin typeface="Calibri"/>
              </a:defRPr>
            </a:pPr>
            <a:r>
              <a:t>لا أولويات واضحة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8152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فريق المبيعات يتعامل مع الكل بنفس الطريقة — لا تصنيف للعملاء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0" y="3611879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3657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566160"/>
            <a:ext cx="9052560" cy="7315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3931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3A3A"/>
                </a:solidFill>
                <a:latin typeface="Calibri"/>
              </a:defRPr>
            </a:pPr>
            <a:r>
              <a:t>متابعة يدوية بطيئة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95020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العميل الساخن ممكن يضيع لأن ما أحد تابعه بوقته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0" y="4480559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452627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434840"/>
            <a:ext cx="9052560" cy="7315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0799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3A3A"/>
                </a:solidFill>
                <a:latin typeface="Calibri"/>
              </a:defRPr>
            </a:pPr>
            <a:r>
              <a:t>لا تتبّع للنتائج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188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ما نعرف إيميلاتنا مين قرأها ومين رد عليها</a:t>
            </a:r>
          </a:p>
        </p:txBody>
      </p:sp>
      <p:sp>
        <p:nvSpPr>
          <p:cNvPr id="25" name="Oval 24"/>
          <p:cNvSpPr/>
          <p:nvPr/>
        </p:nvSpPr>
        <p:spPr>
          <a:xfrm>
            <a:off x="10241280" y="5349240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53949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303520"/>
            <a:ext cx="9052560" cy="7315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37667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3A3A"/>
                </a:solidFill>
                <a:latin typeface="Calibri"/>
              </a:defRPr>
            </a:pPr>
            <a:r>
              <a:t>أدوات وسيطة مكلفة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68756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Zapier + Make + n8n = تكاليف شهرية + تعقيد + نقاط فشل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1A1A1A"/>
                </a:solidFill>
                <a:latin typeface="Calibri"/>
              </a:defRPr>
            </a:pPr>
            <a:r>
              <a:t>الحل: AI Sales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E8771A"/>
                </a:solidFill>
                <a:latin typeface="Calibri"/>
              </a:defRPr>
            </a:pPr>
            <a:r>
              <a:t>نظام واحد يربط كل شي ببعض — ويشتغل لحاله كل يوم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181051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9326880" cy="7772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A1A1A"/>
                </a:solidFill>
                <a:latin typeface="Calibri"/>
              </a:defRPr>
            </a:pPr>
            <a:r>
              <a:t>مصدر بيانات موحّد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84831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كل العملاء والشركات في مكان واحد — Notion CRM</a:t>
            </a:r>
            <a:br/>
            <a:r>
              <a:t>مزامنة تلقائية من Apollo كل يوم الساعة 7 صباحاً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0" y="272491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27432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51760"/>
            <a:ext cx="9326880" cy="7772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697479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A1A1A"/>
                </a:solidFill>
                <a:latin typeface="Calibri"/>
              </a:defRPr>
            </a:pPr>
            <a:r>
              <a:t>تصنيف ذكي للعملاء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9923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نظام نقاط 0-100 يصنّف كل عميل:</a:t>
            </a:r>
            <a:br/>
            <a:r>
              <a:t>HOT (اتصل اليوم) | WARM (تابع خلال 48 ساعة) | COLD (راقب)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0" y="363931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36576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566160"/>
            <a:ext cx="9326880" cy="7772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11879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A1A1A"/>
                </a:solidFill>
                <a:latin typeface="Calibri"/>
              </a:defRPr>
            </a:pPr>
            <a:r>
              <a:t>مهام تلقائية بمواعيد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91363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النظام ينشئ مهام بأولويات ومواعيد تسليم</a:t>
            </a:r>
            <a:br/>
            <a:r>
              <a:t>عميل HOT = مكالمة خلال 24 ساعة | WARM = متابعة خلال 48 ساعة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0" y="455371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4572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480560"/>
            <a:ext cx="9326880" cy="7772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2628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A1A1A"/>
                </a:solidFill>
                <a:latin typeface="Calibri"/>
              </a:defRPr>
            </a:pPr>
            <a:r>
              <a:t>تتبّع كامل للتفاعل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2803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يسحب بيانات الردود والفتحات من Apollo</a:t>
            </a:r>
            <a:br/>
            <a:r>
              <a:t>ويحدّث Notion تلقائياً — نعرف بالضبط مين تفاعل</a:t>
            </a:r>
          </a:p>
        </p:txBody>
      </p:sp>
      <p:sp>
        <p:nvSpPr>
          <p:cNvPr id="25" name="Oval 24"/>
          <p:cNvSpPr/>
          <p:nvPr/>
        </p:nvSpPr>
        <p:spPr>
          <a:xfrm>
            <a:off x="10515600" y="546811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0" y="54864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394960"/>
            <a:ext cx="9326880" cy="7772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44068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A1A1A"/>
                </a:solidFill>
                <a:latin typeface="Calibri"/>
              </a:defRPr>
            </a:pPr>
            <a:r>
              <a:t>صفر تكلفة وسيط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74243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Python + GitHub Actions = مجاني بالكامل</a:t>
            </a:r>
            <a:br/>
            <a:r>
              <a:t>لا Zapier ولا Make ولا n8n — تحكم كامل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كيف يشتغل النظام؟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6A6A6A"/>
                </a:solidFill>
                <a:latin typeface="Calibri"/>
              </a:defRPr>
            </a:pPr>
            <a:r>
              <a:t>حلقة مغلقة ذاتية — من البيانات إلى الإجراء إلى التعلّم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1645920"/>
            <a:ext cx="2011680" cy="16459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Apollo.io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مصدر البيانات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44,875 عميل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645920"/>
            <a:ext cx="2011680" cy="16459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17 سكربت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معالجة + تحليل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645920"/>
            <a:ext cx="2011680" cy="16459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Notion CRM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7 قواعد بيانات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لوحة التحكم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645920"/>
            <a:ext cx="2011680" cy="16459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16 خطوة يومية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7:00 صباحاً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1645920"/>
            <a:ext cx="2011680" cy="16459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Apollo Sequences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24 سلسلة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إيميلات تلقائية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771A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771A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771A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771A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↻  الحلقة المغلقة (v4.1): المزامنة → التسجيل → المهام → الاجتماع → التحليل → الفرص → المعايرة → نقاط أفضل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7844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844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مزامنة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سحب البيانات الجديدة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إثراء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نية الشراء من الوظائف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تسجيل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نقاط 0-100 لكل عميل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تقييم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5 شروط للجاهزية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916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مهام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6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إنشاء مهام SLA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سلاسل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تسجيل في Apollo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74519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74519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74519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تتبّع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74519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مزامنة التفاعل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تقرير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ملخص صباحي يومي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0" y="5760720"/>
            <a:ext cx="9418320" cy="50292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0" y="5806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كل أحد: المعايرة الذاتية — النظام يعدّل أوزان التسجيل بناءً على النتائج الفعلية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1A1A1A"/>
                </a:solidFill>
                <a:latin typeface="Calibri"/>
              </a:defRPr>
            </a:pPr>
            <a:r>
              <a:t>الأرقام تتكلم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371600"/>
            <a:ext cx="3200400" cy="21945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600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E8771A"/>
                </a:solidFill>
                <a:latin typeface="Calibri"/>
              </a:defRPr>
            </a:pPr>
            <a:r>
              <a:t>44,875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جهة اتصال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مزامنة يومية من Apollo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200400" cy="21945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E8771A"/>
                </a:solidFill>
                <a:latin typeface="Calibri"/>
              </a:defRPr>
            </a:pPr>
            <a:r>
              <a:t>15,407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شركة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بيانات كاملة + نية الشراء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371600"/>
            <a:ext cx="3200400" cy="21945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600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E8771A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سكربت إنتاجي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Python — بدون وسيط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931920"/>
            <a:ext cx="3200400" cy="21945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160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E8771A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خطوة يومية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Pipeline تلقائي كل صباح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931920"/>
            <a:ext cx="3200400" cy="21945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160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E8771A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سلسلة بريد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5 أدوار × 2 تير × تبديل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931920"/>
            <a:ext cx="3200400" cy="21945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60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E8771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تكلفة وسيط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GitHub Actions مجاني 100%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1A1A1A"/>
                </a:solidFill>
                <a:latin typeface="Calibri"/>
              </a:defRPr>
            </a:pPr>
            <a:r>
              <a:t>تصنيف العملاء الذكي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6A6A6A"/>
                </a:solidFill>
                <a:latin typeface="Calibri"/>
              </a:defRPr>
            </a:pPr>
            <a:r>
              <a:t>كل عميل يحصل على نقاط من 0 إلى 100 — تلقائياً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508760"/>
            <a:ext cx="8869680" cy="73152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8869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صيغة التسجيل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771A"/>
                </a:solidFill>
                <a:latin typeface="Calibri"/>
              </a:defRPr>
            </a:pPr>
            <a:r>
              <a:t>حجم الشركة (45%)  +  المنصب (35%)  +  النيّة (10%)  +  التفاعل (10%)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560320"/>
            <a:ext cx="3200400" cy="320040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2560320"/>
            <a:ext cx="3200400" cy="54864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3A3A"/>
                </a:solidFill>
                <a:latin typeface="Calibri"/>
              </a:defRPr>
            </a:pPr>
            <a:r>
              <a:t>HOT — ساخن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154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النقاط: 80+</a:t>
            </a:r>
          </a:p>
        </p:txBody>
      </p:sp>
      <p:sp>
        <p:nvSpPr>
          <p:cNvPr id="12" name="Oval 11"/>
          <p:cNvSpPr/>
          <p:nvPr/>
        </p:nvSpPr>
        <p:spPr>
          <a:xfrm>
            <a:off x="9098280" y="3657600"/>
            <a:ext cx="914400" cy="9144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3794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709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3A3A"/>
                </a:solidFill>
                <a:latin typeface="Calibri"/>
              </a:defRPr>
            </a:pPr>
            <a:r>
              <a:t>اتصل اليوم!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029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A6A6A"/>
                </a:solidFill>
                <a:latin typeface="Calibri"/>
              </a:defRPr>
            </a:pPr>
            <a:r>
              <a:t>مكالمة خلال 24 ساعة</a:t>
            </a:r>
            <a:br/>
            <a:r>
              <a:t>أولوية: حرجة</a:t>
            </a:r>
            <a:br/>
            <a:r>
              <a:t>النظام ينشئ مهمة فوراً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560320"/>
            <a:ext cx="3200400" cy="3200400"/>
          </a:xfrm>
          <a:prstGeom prst="roundRect">
            <a:avLst/>
          </a:prstGeom>
          <a:solidFill>
            <a:srgbClr val="FEF3E2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2560320"/>
            <a:ext cx="320040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WARM — دافئ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154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النقاط: 50-79</a:t>
            </a:r>
          </a:p>
        </p:txBody>
      </p:sp>
      <p:sp>
        <p:nvSpPr>
          <p:cNvPr id="20" name="Oval 19"/>
          <p:cNvSpPr/>
          <p:nvPr/>
        </p:nvSpPr>
        <p:spPr>
          <a:xfrm>
            <a:off x="5577840" y="3657600"/>
            <a:ext cx="914400" cy="91440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3794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50-79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709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771A"/>
                </a:solidFill>
                <a:latin typeface="Calibri"/>
              </a:defRPr>
            </a:pPr>
            <a:r>
              <a:t>تابع بالإيميل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029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A6A6A"/>
                </a:solidFill>
                <a:latin typeface="Calibri"/>
              </a:defRPr>
            </a:pPr>
            <a:r>
              <a:t>متابعة خلال 48 ساعة</a:t>
            </a:r>
            <a:br/>
            <a:r>
              <a:t>أولوية: عالية</a:t>
            </a:r>
            <a:br/>
            <a:r>
              <a:t>تسجيل في سلسلة Apollo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2560320"/>
            <a:ext cx="3200400" cy="3200400"/>
          </a:xfrm>
          <a:prstGeom prst="roundRect">
            <a:avLst/>
          </a:prstGeom>
          <a:solidFill>
            <a:srgbClr val="F0F5FF"/>
          </a:solidFill>
          <a:ln w="25400">
            <a:solidFill>
              <a:srgbClr val="4A8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2560320"/>
            <a:ext cx="3200400" cy="54864"/>
          </a:xfrm>
          <a:prstGeom prst="rect">
            <a:avLst/>
          </a:prstGeom>
          <a:solidFill>
            <a:srgbClr val="4A8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8AC7"/>
                </a:solidFill>
                <a:latin typeface="Calibri"/>
              </a:defRPr>
            </a:pPr>
            <a:r>
              <a:t>COLD — بارد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154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النقاط: &lt;50</a:t>
            </a:r>
          </a:p>
        </p:txBody>
      </p:sp>
      <p:sp>
        <p:nvSpPr>
          <p:cNvPr id="28" name="Oval 27"/>
          <p:cNvSpPr/>
          <p:nvPr/>
        </p:nvSpPr>
        <p:spPr>
          <a:xfrm>
            <a:off x="2057400" y="3657600"/>
            <a:ext cx="914400" cy="914400"/>
          </a:xfrm>
          <a:prstGeom prst="ellipse">
            <a:avLst/>
          </a:prstGeom>
          <a:solidFill>
            <a:srgbClr val="4A8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3794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&lt;50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709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8AC7"/>
                </a:solidFill>
                <a:latin typeface="Calibri"/>
              </a:defRPr>
            </a:pPr>
            <a:r>
              <a:t>راقب فقط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A6A6A"/>
                </a:solidFill>
                <a:latin typeface="Calibri"/>
              </a:defRPr>
            </a:pPr>
            <a:r>
              <a:t>لا إجراء مطلوب</a:t>
            </a:r>
            <a:br/>
            <a:r>
              <a:t>متابعة دورية</a:t>
            </a:r>
            <a:br/>
            <a:r>
              <a:t>متوقع: 80%+ من القائمة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1A1A1A"/>
                </a:solidFill>
                <a:latin typeface="Calibri"/>
              </a:defRPr>
            </a:pPr>
            <a:r>
              <a:t>قبل وبعد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4937760" cy="5029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161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3A3A"/>
                </a:solidFill>
                <a:latin typeface="Calibri"/>
              </a:defRPr>
            </a:pPr>
            <a:r>
              <a:t>قبل AI Sales 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4937760" cy="438912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385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3030"/>
                </a:solidFill>
                <a:latin typeface="Calibri"/>
              </a:defRPr>
            </a:pPr>
            <a:r>
              <a:t>✗   بيانات العملاء في 3-4 أماكن مختلفة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4937760" cy="438912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87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3030"/>
                </a:solidFill>
                <a:latin typeface="Calibri"/>
              </a:defRPr>
            </a:pPr>
            <a:r>
              <a:t>✗   لا نعرف مين العميل المهم ومين لا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4937760" cy="438912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358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3030"/>
                </a:solidFill>
                <a:latin typeface="Calibri"/>
              </a:defRPr>
            </a:pPr>
            <a:r>
              <a:t>✗   المتابعة يدوية — ننسى عملاء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0439"/>
            <a:ext cx="4937760" cy="438912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8444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3030"/>
                </a:solidFill>
                <a:latin typeface="Calibri"/>
              </a:defRPr>
            </a:pPr>
            <a:r>
              <a:t>✗   ما نقدر نقيس أداء الإيميلات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69079"/>
            <a:ext cx="4937760" cy="438912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3308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3030"/>
                </a:solidFill>
                <a:latin typeface="Calibri"/>
              </a:defRPr>
            </a:pPr>
            <a:r>
              <a:t>✗   أدوات وسيطة مكلفة (Zapier, Make)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617720"/>
            <a:ext cx="4937760" cy="438912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81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3030"/>
                </a:solidFill>
                <a:latin typeface="Calibri"/>
              </a:defRPr>
            </a:pPr>
            <a:r>
              <a:t>✗   ما في تقارير يومية — نشتغل بالحدس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188720"/>
            <a:ext cx="4937760" cy="50292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2161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Calibri"/>
              </a:defRPr>
            </a:pPr>
            <a:r>
              <a:t>بعد AI Sales 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874519"/>
            <a:ext cx="4937760" cy="438912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385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B5E20"/>
                </a:solidFill>
                <a:latin typeface="Calibri"/>
              </a:defRPr>
            </a:pPr>
            <a:r>
              <a:t>✓   مصدر واحد موحّد — Notion CRM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423160"/>
            <a:ext cx="4937760" cy="438912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487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B5E20"/>
                </a:solidFill>
                <a:latin typeface="Calibri"/>
              </a:defRPr>
            </a:pPr>
            <a:r>
              <a:t>✓   تصنيف ذكي: HOT / WARM / COLD تلقائي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971800"/>
            <a:ext cx="4937760" cy="438912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0358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B5E20"/>
                </a:solidFill>
                <a:latin typeface="Calibri"/>
              </a:defRPr>
            </a:pPr>
            <a:r>
              <a:t>✓   مهام تلقائية مع SLA ومواعيد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520439"/>
            <a:ext cx="4937760" cy="438912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58444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B5E20"/>
                </a:solidFill>
                <a:latin typeface="Calibri"/>
              </a:defRPr>
            </a:pPr>
            <a:r>
              <a:t>✓   تتبّع كامل: فتح، رد، اجتماع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069079"/>
            <a:ext cx="4937760" cy="438912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3308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B5E20"/>
                </a:solidFill>
                <a:latin typeface="Calibri"/>
              </a:defRPr>
            </a:pPr>
            <a:r>
              <a:t>✓   صفر تكلفة — Python + GitHub مجاني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617720"/>
            <a:ext cx="4937760" cy="438912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681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B5E20"/>
                </a:solidFill>
                <a:latin typeface="Calibri"/>
              </a:defRPr>
            </a:pPr>
            <a:r>
              <a:t>✓   تقرير صباحي يومي تلقائي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5394960"/>
            <a:ext cx="8503920" cy="54864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4406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771A"/>
                </a:solidFill>
                <a:latin typeface="Calibri"/>
              </a:defRPr>
            </a:pPr>
            <a:r>
              <a:t>النتيجة: توفير 4+ ساعات يومياً من العمل اليدوي + ما يضيع أي عميل 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ليش هذا مفيد للشركة؟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188720"/>
            <a:ext cx="530352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7120" y="1188720"/>
            <a:ext cx="45720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1371600"/>
            <a:ext cx="594360" cy="59436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144475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417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ما يضيع عميل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874519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كل عميل HOT يحصل على مكالمة خلال 24 ساعة تلقائياً</a:t>
            </a:r>
            <a:br/>
            <a:r>
              <a:t>بدون ما نعتمد على ذاكرة أحد — النظام يذكّرنا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188720"/>
            <a:ext cx="530352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7840" y="1188720"/>
            <a:ext cx="45720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20640" y="1371600"/>
            <a:ext cx="594360" cy="59436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44475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417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قرارات مبنية على بيانات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874519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نعرف بالضبط: مين فتح الإيميل، مين رد، مين حجز اجتماع</a:t>
            </a:r>
            <a:br/>
            <a:r>
              <a:t>المعايرة الأسبوعية تخلّي التصنيف أدق كل أسبوع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57600"/>
            <a:ext cx="530352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247120" y="3657600"/>
            <a:ext cx="45720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89920" y="3840480"/>
            <a:ext cx="594360" cy="59436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391363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886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توفير تكاليف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3434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صفر اشتراكات شهرية للأدوات الوسيطة</a:t>
            </a:r>
            <a:br/>
            <a:r>
              <a:t>GitHub Actions مجاني — 450 دقيقة/شهر من أصل 2,000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530352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77840" y="3657600"/>
            <a:ext cx="45720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20640" y="3840480"/>
            <a:ext cx="594360" cy="59436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391363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886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قابل للتوسّع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3434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النظام يتعامل مع 44,875 عميل بدون مشاكل</a:t>
            </a:r>
            <a:br/>
            <a:r>
              <a:t>مبني للنمو — يقدر يتوسّع لـ Odoo ERP في المرحلة القادمة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1A1A1A"/>
                </a:solidFill>
                <a:latin typeface="Calibri"/>
              </a:defRPr>
            </a:pPr>
            <a:r>
              <a:t>ايش نفّذنا؟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6A6A6A"/>
                </a:solidFill>
                <a:latin typeface="Calibri"/>
              </a:defRPr>
            </a:pPr>
            <a:r>
              <a:t>4 مراحل — 3 مكتملة 100%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1554480"/>
            <a:ext cx="2560320" cy="402336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98280" y="1554480"/>
            <a:ext cx="256032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16916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المرحلة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التفعيل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✓ مكتملة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19" y="283463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مزامنة 44,875 عميل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19" y="356615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ربط Apollo ↔ Notion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429767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محرك المزامنة v2.1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554480"/>
            <a:ext cx="2560320" cy="402336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554480"/>
            <a:ext cx="256032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6916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المرحلة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التنفيذ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✓ مكتملة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283463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تسجيل نقاط + تصنيف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356615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إنشاء مهام تلقائية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429767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فحص صحة النظام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39" y="1554480"/>
            <a:ext cx="2560320" cy="402336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39" y="1554480"/>
            <a:ext cx="256032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39" y="16916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المرحلة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الإثراء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39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✓ مكتملة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79" y="283463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نية الشراء (وظائف)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79" y="356615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سلاسل بريد تلقائية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79" y="429767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تعلّم ذاتي + تقرير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554480"/>
            <a:ext cx="2560320" cy="4023360"/>
          </a:xfrm>
          <a:prstGeom prst="roundRect">
            <a:avLst/>
          </a:prstGeom>
          <a:solidFill>
            <a:srgbClr val="F7F7F7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1554480"/>
            <a:ext cx="256032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16916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المرحلة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التحسين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A6A6A"/>
                </a:solidFill>
                <a:latin typeface="Calibri"/>
              </a:defRPr>
            </a:pPr>
            <a:r>
              <a:t>○ مخطط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283463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○  تكامل Odoo ERP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56615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○  تتبّع الإيرادات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29767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○  تحليلات متقدمة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52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8771A"/>
                </a:solidFill>
                <a:latin typeface="Calibri"/>
              </a:defRPr>
            </a:pPr>
            <a:r>
              <a:t>التقدم: 98%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5897880"/>
            <a:ext cx="8503920" cy="1828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0" y="5897880"/>
            <a:ext cx="8078724" cy="1828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الخطوة القادمة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A6A6A"/>
                </a:solidFill>
                <a:latin typeface="Calibri"/>
              </a:defRPr>
            </a:pPr>
            <a:r>
              <a:t>ماذا نحتاج لتفعيل النظام بالكامل؟</a:t>
            </a:r>
          </a:p>
        </p:txBody>
      </p:sp>
      <p:sp>
        <p:nvSpPr>
          <p:cNvPr id="5" name="Oval 4"/>
          <p:cNvSpPr/>
          <p:nvPr/>
        </p:nvSpPr>
        <p:spPr>
          <a:xfrm>
            <a:off x="9601200" y="2331720"/>
            <a:ext cx="502920" cy="50292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23774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رفع الكود على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الكود جاهز — نحتاج فقط push + تفعيل الـ Actions</a:t>
            </a:r>
          </a:p>
        </p:txBody>
      </p:sp>
      <p:sp>
        <p:nvSpPr>
          <p:cNvPr id="9" name="Oval 8"/>
          <p:cNvSpPr/>
          <p:nvPr/>
        </p:nvSpPr>
        <p:spPr>
          <a:xfrm>
            <a:off x="9601200" y="3291839"/>
            <a:ext cx="502920" cy="50292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33375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إضافة 5 مفاتيح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11879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Apollo + Notion + 3 Database IDs — في إعدادات GitHub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0" y="4251959"/>
            <a:ext cx="502920" cy="50292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429767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تشغيل أول دورة كاملة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720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الـ Pipeline يشتغل تلقائي كل يوم 7 صباحاً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0" y="5212080"/>
            <a:ext cx="502920" cy="50292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52578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6636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متابعة المعايرة الأسبوعية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3212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كل أحد النظام يعطينا تقرير — نراجع ونوافق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5669280"/>
            <a:ext cx="7589520" cy="6400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576072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النظام جاهز — نحتاج فقط الموافقة على التفعيل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0" y="6510528"/>
            <a:ext cx="12191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AI Sales OS v4.1  |  MUHIDE  |  رغيد المدني  |  مارس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