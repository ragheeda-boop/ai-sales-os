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8771A"/>
                </a:solidFill>
                <a:latin typeface="Calibri"/>
              </a:defRPr>
            </a:pPr>
            <a:r>
              <a:t>MUHIDE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A6A6A"/>
                </a:solidFill>
                <a:latin typeface="Calibri"/>
              </a:defRPr>
            </a:pPr>
            <a:r>
              <a:t>الثقة في كل معاملة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نظام تشغيل البيع الذكي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2004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771A"/>
                </a:solidFill>
                <a:latin typeface="Calibri"/>
              </a:defRPr>
            </a:pPr>
            <a:r>
              <a:t>AI Sales OS v4.0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A6A6A"/>
                </a:solidFill>
                <a:latin typeface="Calibri"/>
              </a:defRPr>
            </a:pPr>
            <a:r>
              <a:t>نظام ذاتي التشغيل — يعمل كل يوم بدون تدخل يدوي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4846320"/>
            <a:ext cx="8503920" cy="548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89204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44,875 جهة اتصال   |   15,407 شركة   |   15 سكربت   |   صفر تكلفة وسيط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644652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رغيد المدني  |  مارس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المشكلة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E83A3A"/>
                </a:solidFill>
                <a:latin typeface="Calibri"/>
              </a:defRPr>
            </a:pPr>
            <a:r>
              <a:t>لماذا احتجنا نظام مبيعات ذكي؟</a:t>
            </a:r>
          </a:p>
        </p:txBody>
      </p:sp>
      <p:sp>
        <p:nvSpPr>
          <p:cNvPr id="5" name="Oval 4"/>
          <p:cNvSpPr/>
          <p:nvPr/>
        </p:nvSpPr>
        <p:spPr>
          <a:xfrm>
            <a:off x="10515600" y="1783080"/>
            <a:ext cx="457200" cy="457200"/>
          </a:xfrm>
          <a:prstGeom prst="ellipse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18288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9509760" cy="7315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83A3A"/>
                </a:solidFill>
                <a:latin typeface="Calibri"/>
              </a:defRPr>
            </a:pPr>
            <a:r>
              <a:t>بيانات متفرقة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21408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A6A6A"/>
                </a:solidFill>
                <a:latin typeface="Calibri"/>
              </a:defRPr>
            </a:pPr>
            <a:r>
              <a:t>معلومات العملاء موزعة على أدوات مختلفة — لا مصدر موحّد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0" y="2697479"/>
            <a:ext cx="457200" cy="457200"/>
          </a:xfrm>
          <a:prstGeom prst="ellipse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0" y="2743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51760"/>
            <a:ext cx="9509760" cy="7315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2491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83A3A"/>
                </a:solidFill>
                <a:latin typeface="Calibri"/>
              </a:defRPr>
            </a:pPr>
            <a:r>
              <a:t>لا أولويات واضحة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35808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A6A6A"/>
                </a:solidFill>
                <a:latin typeface="Calibri"/>
              </a:defRPr>
            </a:pPr>
            <a:r>
              <a:t>فريق المبيعات يتعامل مع الكل بنفس الطريقة — لا تصنيف للعملاء</a:t>
            </a:r>
          </a:p>
        </p:txBody>
      </p:sp>
      <p:sp>
        <p:nvSpPr>
          <p:cNvPr id="15" name="Oval 14"/>
          <p:cNvSpPr/>
          <p:nvPr/>
        </p:nvSpPr>
        <p:spPr>
          <a:xfrm>
            <a:off x="10515600" y="3611879"/>
            <a:ext cx="457200" cy="457200"/>
          </a:xfrm>
          <a:prstGeom prst="ellipse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0" y="36576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566160"/>
            <a:ext cx="9509760" cy="7315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63931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83A3A"/>
                </a:solidFill>
                <a:latin typeface="Calibri"/>
              </a:defRPr>
            </a:pPr>
            <a:r>
              <a:t>متابعة يدوية بطيئة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50208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A6A6A"/>
                </a:solidFill>
                <a:latin typeface="Calibri"/>
              </a:defRPr>
            </a:pPr>
            <a:r>
              <a:t>العميل الساخن ممكن يضيع لأن ما أحد تابعه بوقته</a:t>
            </a:r>
          </a:p>
        </p:txBody>
      </p:sp>
      <p:sp>
        <p:nvSpPr>
          <p:cNvPr id="20" name="Oval 19"/>
          <p:cNvSpPr/>
          <p:nvPr/>
        </p:nvSpPr>
        <p:spPr>
          <a:xfrm>
            <a:off x="10515600" y="4526280"/>
            <a:ext cx="457200" cy="457200"/>
          </a:xfrm>
          <a:prstGeom prst="ellipse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0" y="4572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480560"/>
            <a:ext cx="9509760" cy="7315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55371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83A3A"/>
                </a:solidFill>
                <a:latin typeface="Calibri"/>
              </a:defRPr>
            </a:pPr>
            <a:r>
              <a:t>لا تتبّع للنتائج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64608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A6A6A"/>
                </a:solidFill>
                <a:latin typeface="Calibri"/>
              </a:defRPr>
            </a:pPr>
            <a:r>
              <a:t>ما نعرف إيميلاتنا مين قرأها ومين رد عليها</a:t>
            </a:r>
          </a:p>
        </p:txBody>
      </p:sp>
      <p:sp>
        <p:nvSpPr>
          <p:cNvPr id="25" name="Oval 24"/>
          <p:cNvSpPr/>
          <p:nvPr/>
        </p:nvSpPr>
        <p:spPr>
          <a:xfrm>
            <a:off x="10515600" y="5440680"/>
            <a:ext cx="457200" cy="457200"/>
          </a:xfrm>
          <a:prstGeom prst="ellipse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0" y="54864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394960"/>
            <a:ext cx="9509760" cy="7315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46811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83A3A"/>
                </a:solidFill>
                <a:latin typeface="Calibri"/>
              </a:defRPr>
            </a:pPr>
            <a:r>
              <a:t>أدوات وسيطة مكلفة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779008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A6A6A"/>
                </a:solidFill>
                <a:latin typeface="Calibri"/>
              </a:defRPr>
            </a:pPr>
            <a:r>
              <a:t>Zapier + Make + n8n = تكاليف شهرية + تعقيد + نقاط فشل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1A1A1A"/>
                </a:solidFill>
                <a:latin typeface="Calibri"/>
              </a:defRPr>
            </a:pPr>
            <a:r>
              <a:t>الحل: AI Sales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E8771A"/>
                </a:solidFill>
                <a:latin typeface="Calibri"/>
              </a:defRPr>
            </a:pPr>
            <a:r>
              <a:t>نظام واحد يربط كل شي ببعض — ويشتغل لحاله كل يوم</a:t>
            </a:r>
          </a:p>
        </p:txBody>
      </p:sp>
      <p:sp>
        <p:nvSpPr>
          <p:cNvPr id="5" name="Oval 4"/>
          <p:cNvSpPr/>
          <p:nvPr/>
        </p:nvSpPr>
        <p:spPr>
          <a:xfrm>
            <a:off x="10789920" y="1719072"/>
            <a:ext cx="411480" cy="4114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173736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9784080" cy="77724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700" b="1">
                <a:solidFill>
                  <a:srgbClr val="1A1A1A"/>
                </a:solidFill>
                <a:latin typeface="Calibri"/>
              </a:defRPr>
            </a:pPr>
            <a:r>
              <a:t>مصدر بيانات موحّد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A6A6A"/>
                </a:solidFill>
                <a:latin typeface="Calibri"/>
              </a:defRPr>
            </a:pPr>
            <a:r>
              <a:t>كل العملاء والشركات في مكان واحد — Notion CRM</a:t>
            </a:r>
            <a:br/>
            <a:r>
              <a:t>مزامنة تلقائية من Apollo كل يوم الساعة 7 صباحاً</a:t>
            </a:r>
          </a:p>
        </p:txBody>
      </p:sp>
      <p:sp>
        <p:nvSpPr>
          <p:cNvPr id="10" name="Oval 9"/>
          <p:cNvSpPr/>
          <p:nvPr/>
        </p:nvSpPr>
        <p:spPr>
          <a:xfrm>
            <a:off x="10789920" y="2679192"/>
            <a:ext cx="411480" cy="4114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0" y="26974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06040"/>
            <a:ext cx="9784080" cy="77724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5176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700" b="1">
                <a:solidFill>
                  <a:srgbClr val="1A1A1A"/>
                </a:solidFill>
                <a:latin typeface="Calibri"/>
              </a:defRPr>
            </a:pPr>
            <a:r>
              <a:t>تصنيف ذكي للعملاء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53512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A6A6A"/>
                </a:solidFill>
                <a:latin typeface="Calibri"/>
              </a:defRPr>
            </a:pPr>
            <a:r>
              <a:t>نظام نقاط 0-100 يصنّف كل عميل:</a:t>
            </a:r>
            <a:br/>
            <a:r>
              <a:t>HOT (اتصل اليوم) | WARM (تابع خلال 48 ساعة) | COLD (راقب)</a:t>
            </a:r>
          </a:p>
        </p:txBody>
      </p:sp>
      <p:sp>
        <p:nvSpPr>
          <p:cNvPr id="15" name="Oval 14"/>
          <p:cNvSpPr/>
          <p:nvPr/>
        </p:nvSpPr>
        <p:spPr>
          <a:xfrm>
            <a:off x="10789920" y="3639312"/>
            <a:ext cx="411480" cy="4114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0" y="36576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566160"/>
            <a:ext cx="9784080" cy="77724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61188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700" b="1">
                <a:solidFill>
                  <a:srgbClr val="1A1A1A"/>
                </a:solidFill>
                <a:latin typeface="Calibri"/>
              </a:defRPr>
            </a:pPr>
            <a:r>
              <a:t>مهام تلقائية بمواعيد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13632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A6A6A"/>
                </a:solidFill>
                <a:latin typeface="Calibri"/>
              </a:defRPr>
            </a:pPr>
            <a:r>
              <a:t>النظام ينشئ مهام بأولويات ومواعيد تسليم</a:t>
            </a:r>
            <a:br/>
            <a:r>
              <a:t>عميل HOT = مكالمة خلال 24 ساعة | WARM = متابعة خلال 48 ساعة</a:t>
            </a:r>
          </a:p>
        </p:txBody>
      </p:sp>
      <p:sp>
        <p:nvSpPr>
          <p:cNvPr id="20" name="Oval 19"/>
          <p:cNvSpPr/>
          <p:nvPr/>
        </p:nvSpPr>
        <p:spPr>
          <a:xfrm>
            <a:off x="10789920" y="4599432"/>
            <a:ext cx="411480" cy="4114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0" y="46177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526280"/>
            <a:ext cx="9784080" cy="77724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57200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700" b="1">
                <a:solidFill>
                  <a:srgbClr val="1A1A1A"/>
                </a:solidFill>
                <a:latin typeface="Calibri"/>
              </a:defRPr>
            </a:pPr>
            <a:r>
              <a:t>تتبّع كامل للتفاعل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73752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A6A6A"/>
                </a:solidFill>
                <a:latin typeface="Calibri"/>
              </a:defRPr>
            </a:pPr>
            <a:r>
              <a:t>يسحب بيانات الردود والفتحات من Apollo</a:t>
            </a:r>
            <a:br/>
            <a:r>
              <a:t>ويحدّث Notion تلقائياً — نعرف بالضبط مين تفاعل</a:t>
            </a:r>
          </a:p>
        </p:txBody>
      </p:sp>
      <p:sp>
        <p:nvSpPr>
          <p:cNvPr id="25" name="Oval 24"/>
          <p:cNvSpPr/>
          <p:nvPr/>
        </p:nvSpPr>
        <p:spPr>
          <a:xfrm>
            <a:off x="10789920" y="5559552"/>
            <a:ext cx="411480" cy="4114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0" y="55778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486400"/>
            <a:ext cx="9784080" cy="77724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53212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700" b="1">
                <a:solidFill>
                  <a:srgbClr val="1A1A1A"/>
                </a:solidFill>
                <a:latin typeface="Calibri"/>
              </a:defRPr>
            </a:pPr>
            <a:r>
              <a:t>صفر تكلفة وسيط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833872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A6A6A"/>
                </a:solidFill>
                <a:latin typeface="Calibri"/>
              </a:defRPr>
            </a:pPr>
            <a:r>
              <a:t>Python + GitHub Actions = مجاني بالكامل</a:t>
            </a:r>
            <a:br/>
            <a:r>
              <a:t>لا Zapier ولا Make ولا n8n — تحكم كامل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كيف يشتغل النظام؟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6A6A6A"/>
                </a:solidFill>
                <a:latin typeface="Calibri"/>
              </a:defRPr>
            </a:pPr>
            <a:r>
              <a:t>حلقة مغلقة ذاتية — من البيانات إلى الإجراء إلى التعلّم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18320" y="1645920"/>
            <a:ext cx="2011680" cy="164592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0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771A"/>
                </a:solidFill>
                <a:latin typeface="Calibri"/>
              </a:defRPr>
            </a:pPr>
            <a:r>
              <a:t>Apollo.io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مصدر البيانات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A6A6A"/>
                </a:solidFill>
                <a:latin typeface="Calibri"/>
              </a:defRPr>
            </a:pPr>
            <a:r>
              <a:t>44,875 عميل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645920"/>
            <a:ext cx="2011680" cy="164592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59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771A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59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15 سكربت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59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A6A6A"/>
                </a:solidFill>
                <a:latin typeface="Calibri"/>
              </a:defRPr>
            </a:pPr>
            <a:r>
              <a:t>معالجة + تحليل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1645920"/>
            <a:ext cx="2011680" cy="164592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59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771A"/>
                </a:solidFill>
                <a:latin typeface="Calibri"/>
              </a:defRPr>
            </a:pPr>
            <a:r>
              <a:t>Notion CRM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7 قواعد بيانات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59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A6A6A"/>
                </a:solidFill>
                <a:latin typeface="Calibri"/>
              </a:defRPr>
            </a:pPr>
            <a:r>
              <a:t>لوحة التحكم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1645920"/>
            <a:ext cx="2011680" cy="164592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771A"/>
                </a:solidFill>
                <a:latin typeface="Calibri"/>
              </a:defRPr>
            </a:pPr>
            <a:r>
              <a:t>GitHub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14 خطوة يومية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A6A6A"/>
                </a:solidFill>
                <a:latin typeface="Calibri"/>
              </a:defRPr>
            </a:pPr>
            <a:r>
              <a:t>7:00 صباحاً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1645920"/>
            <a:ext cx="2011680" cy="164592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771A"/>
                </a:solidFill>
                <a:latin typeface="Calibri"/>
              </a:defRPr>
            </a:pPr>
            <a:r>
              <a:t>Apollo Sequences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24 سلسلة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A6A6A"/>
                </a:solidFill>
                <a:latin typeface="Calibri"/>
              </a:defRPr>
            </a:pPr>
            <a:r>
              <a:t>إيميلات تلقائية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8771A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8771A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8771A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8771A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34747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771A"/>
                </a:solidFill>
                <a:latin typeface="Calibri"/>
              </a:defRPr>
            </a:pPr>
            <a:r>
              <a:t>↻  الحلقة المغلقة: يتعلّم من النتائج ويحسّن النقاط تلقائياً كل أسبوع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378440" y="4206240"/>
            <a:ext cx="1234440" cy="4114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78440" y="425195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78440" y="4709159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مزامنة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78440" y="498347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A6A6A"/>
                </a:solidFill>
                <a:latin typeface="Calibri"/>
              </a:defRPr>
            </a:pPr>
            <a:r>
              <a:t>سحب البيانات الجديدة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0" y="4206240"/>
            <a:ext cx="1234440" cy="4114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0" y="425195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4709159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إثراء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498347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A6A6A"/>
                </a:solidFill>
                <a:latin typeface="Calibri"/>
              </a:defRPr>
            </a:pPr>
            <a:r>
              <a:t>نية الشراء من الوظائف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43800" y="4206240"/>
            <a:ext cx="1234440" cy="4114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43800" y="425195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800" y="4709159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تسجيل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43800" y="498347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A6A6A"/>
                </a:solidFill>
                <a:latin typeface="Calibri"/>
              </a:defRPr>
            </a:pPr>
            <a:r>
              <a:t>نقاط 0-100 لكل عميل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4206240"/>
            <a:ext cx="1234440" cy="4114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0" y="425195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4709159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تقييم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498347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A6A6A"/>
                </a:solidFill>
                <a:latin typeface="Calibri"/>
              </a:defRPr>
            </a:pPr>
            <a:r>
              <a:t>5 شروط للجاهزية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09160" y="4206240"/>
            <a:ext cx="1234440" cy="4114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09160" y="425195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09160" y="4709159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مهام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09160" y="498347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A6A6A"/>
                </a:solidFill>
                <a:latin typeface="Calibri"/>
              </a:defRPr>
            </a:pPr>
            <a:r>
              <a:t>إنشاء مهام SLA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91840" y="4206240"/>
            <a:ext cx="1234440" cy="4114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91840" y="425195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91840" y="4709159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سلاسل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91840" y="498347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A6A6A"/>
                </a:solidFill>
                <a:latin typeface="Calibri"/>
              </a:defRPr>
            </a:pPr>
            <a:r>
              <a:t>تسجيل في Apollo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74519" y="4206240"/>
            <a:ext cx="1234440" cy="4114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874519" y="425195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74519" y="4709159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تتبّع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74519" y="498347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A6A6A"/>
                </a:solidFill>
                <a:latin typeface="Calibri"/>
              </a:defRPr>
            </a:pPr>
            <a:r>
              <a:t>مزامنة التفاعل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4206240"/>
            <a:ext cx="1234440" cy="4114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425195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4709159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تقرير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4983479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A6A6A"/>
                </a:solidFill>
                <a:latin typeface="Calibri"/>
              </a:defRPr>
            </a:pPr>
            <a:r>
              <a:t>ملخص صباحي يومي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371600" y="5760720"/>
            <a:ext cx="9418320" cy="502920"/>
          </a:xfrm>
          <a:prstGeom prst="rect">
            <a:avLst/>
          </a:prstGeom>
          <a:solidFill>
            <a:srgbClr val="2A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71600" y="58064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771A"/>
                </a:solidFill>
                <a:latin typeface="Calibri"/>
              </a:defRPr>
            </a:pPr>
            <a:r>
              <a:t>كل أحد: المعايرة الذاتية — النظام يعدّل أوزان التسجيل بناءً على النتائج الفعلية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1A1A1A"/>
                </a:solidFill>
                <a:latin typeface="Calibri"/>
              </a:defRPr>
            </a:pPr>
            <a:r>
              <a:t>الأرقام تتكلم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0" y="1188720"/>
            <a:ext cx="3383280" cy="22860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14630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8771A"/>
                </a:solidFill>
                <a:latin typeface="Calibri"/>
              </a:defRPr>
            </a:pPr>
            <a:r>
              <a:t>44,875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2286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جهة اتصال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697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مزامنة يومية من Apollo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188720"/>
            <a:ext cx="3383280" cy="22860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630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8771A"/>
                </a:solidFill>
                <a:latin typeface="Calibri"/>
              </a:defRPr>
            </a:pPr>
            <a:r>
              <a:t>15,407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شركة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97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بيانات كاملة + نية الشراء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1188720"/>
            <a:ext cx="3383280" cy="22860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4630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8771A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286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سكربت إنتاجي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697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Python — بدون وسيط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840480"/>
            <a:ext cx="3383280" cy="22860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1148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8771A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937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خطوة يومية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5349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Pipeline تلقائي كل صباح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3840480"/>
            <a:ext cx="3383280" cy="22860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1148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8771A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937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سلسلة بريد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349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5 أدوار × 2 تير × تبديل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840480"/>
            <a:ext cx="3383280" cy="22860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11480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8771A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37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تكلفة وسيط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349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GitHub Actions مجاني 100%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1A1A1A"/>
                </a:solidFill>
                <a:latin typeface="Calibri"/>
              </a:defRPr>
            </a:pPr>
            <a:r>
              <a:t>تصنيف العملاء الذكي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6A6A6A"/>
                </a:solidFill>
                <a:latin typeface="Calibri"/>
              </a:defRPr>
            </a:pPr>
            <a:r>
              <a:t>كل عميل يحصل على نقاط من 0 إلى 100 — تلقائياً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463040"/>
            <a:ext cx="9418320" cy="731520"/>
          </a:xfrm>
          <a:prstGeom prst="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صيغة التسجيل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8308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8771A"/>
                </a:solidFill>
                <a:latin typeface="Calibri"/>
              </a:defRPr>
            </a:pPr>
            <a:r>
              <a:t>حجم الشركة (45%)  +  المنصب (35%)  +  النيّة (10%)  +  التفاعل (10%)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560320"/>
            <a:ext cx="3383280" cy="3200400"/>
          </a:xfrm>
          <a:prstGeom prst="roundRect">
            <a:avLst/>
          </a:prstGeom>
          <a:solidFill>
            <a:srgbClr val="FFF0F0"/>
          </a:solidFill>
          <a:ln w="25400">
            <a:solidFill>
              <a:srgbClr val="E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0" y="2560320"/>
            <a:ext cx="3383280" cy="54864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743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3A3A"/>
                </a:solidFill>
                <a:latin typeface="Calibri"/>
              </a:defRPr>
            </a:pPr>
            <a:r>
              <a:t>HOT — ساخن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15467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1A"/>
                </a:solidFill>
                <a:latin typeface="Calibri"/>
              </a:defRPr>
            </a:pPr>
            <a:r>
              <a:t>النقاط: 80+</a:t>
            </a:r>
          </a:p>
        </p:txBody>
      </p:sp>
      <p:sp>
        <p:nvSpPr>
          <p:cNvPr id="12" name="Oval 11"/>
          <p:cNvSpPr/>
          <p:nvPr/>
        </p:nvSpPr>
        <p:spPr>
          <a:xfrm>
            <a:off x="9464040" y="3657600"/>
            <a:ext cx="914400" cy="914400"/>
          </a:xfrm>
          <a:prstGeom prst="ellipse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64040" y="37947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80+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4709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3A3A"/>
                </a:solidFill>
                <a:latin typeface="Calibri"/>
              </a:defRPr>
            </a:pPr>
            <a:r>
              <a:t>اتصل اليوم!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50292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A6A6A"/>
                </a:solidFill>
                <a:latin typeface="Calibri"/>
              </a:defRPr>
            </a:pPr>
            <a:r>
              <a:t>مكالمة خلال 24 ساعة</a:t>
            </a:r>
            <a:br/>
            <a:r>
              <a:t>أولوية: حرجة</a:t>
            </a:r>
            <a:br/>
            <a:r>
              <a:t>النظام ينشئ مهمة فوراً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560320"/>
            <a:ext cx="3383280" cy="3200400"/>
          </a:xfrm>
          <a:prstGeom prst="roundRect">
            <a:avLst/>
          </a:prstGeom>
          <a:solidFill>
            <a:srgbClr val="FEF3E2"/>
          </a:solidFill>
          <a:ln w="254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2560320"/>
            <a:ext cx="3383280" cy="54864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743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771A"/>
                </a:solidFill>
                <a:latin typeface="Calibri"/>
              </a:defRPr>
            </a:pPr>
            <a:r>
              <a:t>WARM — دافئ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15467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1A"/>
                </a:solidFill>
                <a:latin typeface="Calibri"/>
              </a:defRPr>
            </a:pPr>
            <a:r>
              <a:t>النقاط: 50-79</a:t>
            </a:r>
          </a:p>
        </p:txBody>
      </p:sp>
      <p:sp>
        <p:nvSpPr>
          <p:cNvPr id="20" name="Oval 19"/>
          <p:cNvSpPr/>
          <p:nvPr/>
        </p:nvSpPr>
        <p:spPr>
          <a:xfrm>
            <a:off x="5806440" y="3657600"/>
            <a:ext cx="914400" cy="914400"/>
          </a:xfrm>
          <a:prstGeom prst="ellipse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6440" y="37947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50-79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4709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771A"/>
                </a:solidFill>
                <a:latin typeface="Calibri"/>
              </a:defRPr>
            </a:pPr>
            <a:r>
              <a:t>تابع بالإيميل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50292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A6A6A"/>
                </a:solidFill>
                <a:latin typeface="Calibri"/>
              </a:defRPr>
            </a:pPr>
            <a:r>
              <a:t>متابعة خلال 48 ساعة</a:t>
            </a:r>
            <a:br/>
            <a:r>
              <a:t>أولوية: عالية</a:t>
            </a:r>
            <a:br/>
            <a:r>
              <a:t>تسجيل في سلسلة Apollo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2560320"/>
            <a:ext cx="3383280" cy="3200400"/>
          </a:xfrm>
          <a:prstGeom prst="roundRect">
            <a:avLst/>
          </a:prstGeom>
          <a:solidFill>
            <a:srgbClr val="F0F5FF"/>
          </a:solidFill>
          <a:ln w="25400">
            <a:solidFill>
              <a:srgbClr val="4A8A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2560320"/>
            <a:ext cx="3383280" cy="54864"/>
          </a:xfrm>
          <a:prstGeom prst="rect">
            <a:avLst/>
          </a:prstGeom>
          <a:solidFill>
            <a:srgbClr val="4A8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2743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A8AC7"/>
                </a:solidFill>
                <a:latin typeface="Calibri"/>
              </a:defRPr>
            </a:pPr>
            <a:r>
              <a:t>COLD — بارد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15467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1A"/>
                </a:solidFill>
                <a:latin typeface="Calibri"/>
              </a:defRPr>
            </a:pPr>
            <a:r>
              <a:t>النقاط: &lt;50</a:t>
            </a:r>
          </a:p>
        </p:txBody>
      </p:sp>
      <p:sp>
        <p:nvSpPr>
          <p:cNvPr id="28" name="Oval 27"/>
          <p:cNvSpPr/>
          <p:nvPr/>
        </p:nvSpPr>
        <p:spPr>
          <a:xfrm>
            <a:off x="2148840" y="3657600"/>
            <a:ext cx="914400" cy="914400"/>
          </a:xfrm>
          <a:prstGeom prst="ellipse">
            <a:avLst/>
          </a:prstGeom>
          <a:solidFill>
            <a:srgbClr val="4A8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48840" y="37947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&lt;50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709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8AC7"/>
                </a:solidFill>
                <a:latin typeface="Calibri"/>
              </a:defRPr>
            </a:pPr>
            <a:r>
              <a:t>راقب فقط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0292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A6A6A"/>
                </a:solidFill>
                <a:latin typeface="Calibri"/>
              </a:defRPr>
            </a:pPr>
            <a:r>
              <a:t>لا إجراء مطلوب</a:t>
            </a:r>
            <a:br/>
            <a:r>
              <a:t>متابعة دورية</a:t>
            </a:r>
            <a:br/>
            <a:r>
              <a:t>متوقع: 80%+ من القائمة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1A1A1A"/>
                </a:solidFill>
                <a:latin typeface="Calibri"/>
              </a:defRPr>
            </a:pPr>
            <a:r>
              <a:t>قبل وبعد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303520" cy="5486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3A3A"/>
                </a:solidFill>
                <a:latin typeface="Calibri"/>
              </a:defRPr>
            </a:pPr>
            <a:r>
              <a:t>قبل AI Sales 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303520" cy="457200"/>
          </a:xfrm>
          <a:prstGeom prst="roundRect">
            <a:avLst/>
          </a:prstGeom>
          <a:solidFill>
            <a:srgbClr val="F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A03030"/>
                </a:solidFill>
                <a:latin typeface="Calibri"/>
              </a:defRPr>
            </a:pPr>
            <a:r>
              <a:t>✗   بيانات العملاء في 3-4 أماكن مختلفة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5303520" cy="457200"/>
          </a:xfrm>
          <a:prstGeom prst="roundRect">
            <a:avLst/>
          </a:prstGeom>
          <a:solidFill>
            <a:srgbClr val="F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877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A03030"/>
                </a:solidFill>
                <a:latin typeface="Calibri"/>
              </a:defRPr>
            </a:pPr>
            <a:r>
              <a:t>✗   لا نعرف مين العميل المهم ومين لا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5303520" cy="457200"/>
          </a:xfrm>
          <a:prstGeom prst="roundRect">
            <a:avLst/>
          </a:prstGeom>
          <a:solidFill>
            <a:srgbClr val="F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821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A03030"/>
                </a:solidFill>
                <a:latin typeface="Calibri"/>
              </a:defRPr>
            </a:pPr>
            <a:r>
              <a:t>✗   المتابعة يدوية — ننسى عملاء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03320"/>
            <a:ext cx="5303520" cy="457200"/>
          </a:xfrm>
          <a:prstGeom prst="roundRect">
            <a:avLst/>
          </a:prstGeom>
          <a:solidFill>
            <a:srgbClr val="F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764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A03030"/>
                </a:solidFill>
                <a:latin typeface="Calibri"/>
              </a:defRPr>
            </a:pPr>
            <a:r>
              <a:t>✗   ما نقدر نقيس أداء الإيميلات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5303520" cy="457200"/>
          </a:xfrm>
          <a:prstGeom prst="roundRect">
            <a:avLst/>
          </a:prstGeom>
          <a:solidFill>
            <a:srgbClr val="F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7083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A03030"/>
                </a:solidFill>
                <a:latin typeface="Calibri"/>
              </a:defRPr>
            </a:pPr>
            <a:r>
              <a:t>✗   أدوات وسيطة مكلفة (Zapier, Make)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92040"/>
            <a:ext cx="5303520" cy="457200"/>
          </a:xfrm>
          <a:prstGeom prst="roundRect">
            <a:avLst/>
          </a:prstGeom>
          <a:solidFill>
            <a:srgbClr val="F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9651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A03030"/>
                </a:solidFill>
                <a:latin typeface="Calibri"/>
              </a:defRPr>
            </a:pPr>
            <a:r>
              <a:t>✗   ما في تقارير يومية — نشتغل بالحدس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188720"/>
            <a:ext cx="5303520" cy="54864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7D32"/>
                </a:solidFill>
                <a:latin typeface="Calibri"/>
              </a:defRPr>
            </a:pPr>
            <a:r>
              <a:t>بعد AI Sales 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920240"/>
            <a:ext cx="5303520" cy="4572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9933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1B5E20"/>
                </a:solidFill>
                <a:latin typeface="Calibri"/>
              </a:defRPr>
            </a:pPr>
            <a:r>
              <a:t>✓   مصدر واحد موحّد — Notion CRM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514600"/>
            <a:ext cx="5303520" cy="4572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5877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1B5E20"/>
                </a:solidFill>
                <a:latin typeface="Calibri"/>
              </a:defRPr>
            </a:pPr>
            <a:r>
              <a:t>✓   تصنيف ذكي: HOT / WARM / COLD تلقائي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108960"/>
            <a:ext cx="5303520" cy="4572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1821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1B5E20"/>
                </a:solidFill>
                <a:latin typeface="Calibri"/>
              </a:defRPr>
            </a:pPr>
            <a:r>
              <a:t>✓   مهام تلقائية مع SLA ومواعيد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703320"/>
            <a:ext cx="5303520" cy="4572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7764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1B5E20"/>
                </a:solidFill>
                <a:latin typeface="Calibri"/>
              </a:defRPr>
            </a:pPr>
            <a:r>
              <a:t>✓   تتبّع كامل: فتح، رد، اجتماع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297680"/>
            <a:ext cx="5303520" cy="4572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37083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1B5E20"/>
                </a:solidFill>
                <a:latin typeface="Calibri"/>
              </a:defRPr>
            </a:pPr>
            <a:r>
              <a:t>✓   صفر تكلفة — Python + GitHub مجاني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892040"/>
            <a:ext cx="5303520" cy="4572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9651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1B5E20"/>
                </a:solidFill>
                <a:latin typeface="Calibri"/>
              </a:defRPr>
            </a:pPr>
            <a:r>
              <a:t>✓   تقرير صباحي يومي تلقائي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5760720"/>
            <a:ext cx="8503920" cy="640080"/>
          </a:xfrm>
          <a:prstGeom prst="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5806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771A"/>
                </a:solidFill>
                <a:latin typeface="Calibri"/>
              </a:defRPr>
            </a:pPr>
            <a:r>
              <a:t>النتيجة: توفير 4+ ساعات يومياً من العمل اليدوي + ما يضيع أي عميل HOT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ليش هذا مفيد للشركة؟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188720"/>
            <a:ext cx="5303520" cy="2103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47120" y="1188720"/>
            <a:ext cx="457200" cy="54864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1371600"/>
            <a:ext cx="594360" cy="594360"/>
          </a:xfrm>
          <a:prstGeom prst="ellipse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144475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4173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E8771A"/>
                </a:solidFill>
                <a:latin typeface="Calibri"/>
              </a:defRPr>
            </a:pPr>
            <a:r>
              <a:t>ما يضيع عميل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874519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كل عميل HOT يحصل على مكالمة خلال 24 ساعة تلقائياً</a:t>
            </a:r>
            <a:br/>
            <a:r>
              <a:t>بدون ما نعتمد على ذاكرة أحد — النظام يذكّرنا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188720"/>
            <a:ext cx="5303520" cy="2103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77840" y="1188720"/>
            <a:ext cx="457200" cy="54864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120640" y="1371600"/>
            <a:ext cx="594360" cy="594360"/>
          </a:xfrm>
          <a:prstGeom prst="ellipse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144475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4173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E8771A"/>
                </a:solidFill>
                <a:latin typeface="Calibri"/>
              </a:defRPr>
            </a:pPr>
            <a:r>
              <a:t>قرارات مبنية على بيانات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1874519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نعرف بالضبط: مين فتح الإيميل، مين رد، مين حجز اجتماع</a:t>
            </a:r>
            <a:br/>
            <a:r>
              <a:t>المعايرة الأسبوعية تخلّي التصنيف أدق كل أسبوع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657600"/>
            <a:ext cx="5303520" cy="2103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247120" y="3657600"/>
            <a:ext cx="457200" cy="54864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89920" y="3840480"/>
            <a:ext cx="594360" cy="594360"/>
          </a:xfrm>
          <a:prstGeom prst="ellipse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0" y="391363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8862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E8771A"/>
                </a:solidFill>
                <a:latin typeface="Calibri"/>
              </a:defRPr>
            </a:pPr>
            <a:r>
              <a:t>توفير تكاليف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34340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صفر اشتراكات شهرية للأدوات الوسيطة</a:t>
            </a:r>
            <a:br/>
            <a:r>
              <a:t>GitHub Actions مجاني — 450 دقيقة/شهر من أصل 2,000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657600"/>
            <a:ext cx="5303520" cy="2103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77840" y="3657600"/>
            <a:ext cx="457200" cy="54864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20640" y="3840480"/>
            <a:ext cx="594360" cy="594360"/>
          </a:xfrm>
          <a:prstGeom prst="ellipse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0" y="391363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8862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E8771A"/>
                </a:solidFill>
                <a:latin typeface="Calibri"/>
              </a:defRPr>
            </a:pPr>
            <a:r>
              <a:t>قابل للتوسّع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34340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النظام يتعامل مع 44,875 عميل بدون مشاكل</a:t>
            </a:r>
            <a:br/>
            <a:r>
              <a:t>مبني للنمو — يقدر يتوسّع لـ Odoo ERP في المرحلة القادمة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200" b="1">
                <a:solidFill>
                  <a:srgbClr val="1A1A1A"/>
                </a:solidFill>
                <a:latin typeface="Calibri"/>
              </a:defRPr>
            </a:pPr>
            <a:r>
              <a:t>ايش نفّذنا؟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6A6A6A"/>
                </a:solidFill>
                <a:latin typeface="Calibri"/>
              </a:defRPr>
            </a:pPr>
            <a:r>
              <a:t>4 مراحل — 3 مكتملة 100%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98280" y="1463040"/>
            <a:ext cx="2651760" cy="4206240"/>
          </a:xfrm>
          <a:prstGeom prst="roundRect">
            <a:avLst/>
          </a:prstGeom>
          <a:solidFill>
            <a:srgbClr val="F0FFF0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98280" y="1463040"/>
            <a:ext cx="2651760" cy="54864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16002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771A"/>
                </a:solidFill>
                <a:latin typeface="Calibri"/>
              </a:defRPr>
            </a:pPr>
            <a:r>
              <a:t>المرحلة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1920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1A"/>
                </a:solidFill>
                <a:latin typeface="Calibri"/>
              </a:defRPr>
            </a:pPr>
            <a:r>
              <a:t>التفعيل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23317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✓ مكتملة 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19" y="28346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Calibri"/>
              </a:defRPr>
            </a:pPr>
            <a:r>
              <a:t>✓  مزامنة 44,875 عميل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19" y="35661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Calibri"/>
              </a:defRPr>
            </a:pPr>
            <a:r>
              <a:t>✓  ربط Apollo ↔ Notion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19" y="42976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Calibri"/>
              </a:defRPr>
            </a:pPr>
            <a:r>
              <a:t>✓  محرك المزامنة v2.1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2651760" cy="4206240"/>
          </a:xfrm>
          <a:prstGeom prst="roundRect">
            <a:avLst/>
          </a:prstGeom>
          <a:solidFill>
            <a:srgbClr val="F0FFF0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2651760" cy="54864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6002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771A"/>
                </a:solidFill>
                <a:latin typeface="Calibri"/>
              </a:defRPr>
            </a:pPr>
            <a:r>
              <a:t>المرحلة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920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1A"/>
                </a:solidFill>
                <a:latin typeface="Calibri"/>
              </a:defRPr>
            </a:pPr>
            <a:r>
              <a:t>التنفيذ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3317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✓ مكتملة 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8346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Calibri"/>
              </a:defRPr>
            </a:pPr>
            <a:r>
              <a:t>✓  تسجيل نقاط + تصنيف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35661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Calibri"/>
              </a:defRPr>
            </a:pPr>
            <a:r>
              <a:t>✓  إنشاء مهام تلقائية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42976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Calibri"/>
              </a:defRPr>
            </a:pPr>
            <a:r>
              <a:t>✓  فحص صحة النظام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7560" y="1463040"/>
            <a:ext cx="2651760" cy="4206240"/>
          </a:xfrm>
          <a:prstGeom prst="roundRect">
            <a:avLst/>
          </a:prstGeom>
          <a:solidFill>
            <a:srgbClr val="F0FFF0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37560" y="1463040"/>
            <a:ext cx="2651760" cy="54864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16002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771A"/>
                </a:solidFill>
                <a:latin typeface="Calibri"/>
              </a:defRPr>
            </a:pPr>
            <a:r>
              <a:t>المرحلة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1920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1A"/>
                </a:solidFill>
                <a:latin typeface="Calibri"/>
              </a:defRPr>
            </a:pPr>
            <a:r>
              <a:t>الإثراء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23317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7D32"/>
                </a:solidFill>
                <a:latin typeface="Calibri"/>
              </a:defRPr>
            </a:pPr>
            <a:r>
              <a:t>✓ مكتملة 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28346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Calibri"/>
              </a:defRPr>
            </a:pPr>
            <a:r>
              <a:t>✓  نية الشراء (وظائف)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35661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Calibri"/>
              </a:defRPr>
            </a:pPr>
            <a:r>
              <a:t>✓  سلاسل بريد تلقائية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42976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Calibri"/>
              </a:defRPr>
            </a:pPr>
            <a:r>
              <a:t>✓  تعلّم ذاتي + تقرير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1463040"/>
            <a:ext cx="2651760" cy="4206240"/>
          </a:xfrm>
          <a:prstGeom prst="roundRect">
            <a:avLst/>
          </a:prstGeom>
          <a:solidFill>
            <a:srgbClr val="F7F7F7"/>
          </a:solidFill>
          <a:ln w="254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1463040"/>
            <a:ext cx="265176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16002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771A"/>
                </a:solidFill>
                <a:latin typeface="Calibri"/>
              </a:defRPr>
            </a:pPr>
            <a:r>
              <a:t>المرحلة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1920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1A"/>
                </a:solidFill>
                <a:latin typeface="Calibri"/>
              </a:defRPr>
            </a:pPr>
            <a:r>
              <a:t>التحسين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3317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A6A6A"/>
                </a:solidFill>
                <a:latin typeface="Calibri"/>
              </a:defRPr>
            </a:pPr>
            <a:r>
              <a:t>○ مخطط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28346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○  تكامل Odoo ERP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5661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○  تتبّع الإيرادات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2976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○  تحليلات متقدمة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E8771A"/>
                </a:solidFill>
                <a:latin typeface="Calibri"/>
              </a:defRPr>
            </a:pPr>
            <a:r>
              <a:t>التقدم: 95%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5989320"/>
            <a:ext cx="8686800" cy="18288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0" y="5989320"/>
            <a:ext cx="8252460" cy="1828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الخطوة القادمة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5544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A6A6A"/>
                </a:solidFill>
                <a:latin typeface="Calibri"/>
              </a:defRPr>
            </a:pPr>
            <a:r>
              <a:t>ماذا نحتاج لتفعيل النظام بالكامل؟</a:t>
            </a:r>
          </a:p>
        </p:txBody>
      </p:sp>
      <p:sp>
        <p:nvSpPr>
          <p:cNvPr id="5" name="Oval 4"/>
          <p:cNvSpPr/>
          <p:nvPr/>
        </p:nvSpPr>
        <p:spPr>
          <a:xfrm>
            <a:off x="9601200" y="2331720"/>
            <a:ext cx="502920" cy="502920"/>
          </a:xfrm>
          <a:prstGeom prst="ellipse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23774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رفع الكود على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5176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A6A6A"/>
                </a:solidFill>
                <a:latin typeface="Calibri"/>
              </a:defRPr>
            </a:pPr>
            <a:r>
              <a:t>الكود جاهز — نحتاج فقط push + تفعيل الـ Actions</a:t>
            </a:r>
          </a:p>
        </p:txBody>
      </p:sp>
      <p:sp>
        <p:nvSpPr>
          <p:cNvPr id="9" name="Oval 8"/>
          <p:cNvSpPr/>
          <p:nvPr/>
        </p:nvSpPr>
        <p:spPr>
          <a:xfrm>
            <a:off x="9601200" y="3291839"/>
            <a:ext cx="502920" cy="502920"/>
          </a:xfrm>
          <a:prstGeom prst="ellipse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0" y="33375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4612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إضافة 5 مفاتيح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11879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A6A6A"/>
                </a:solidFill>
                <a:latin typeface="Calibri"/>
              </a:defRPr>
            </a:pPr>
            <a:r>
              <a:t>Apollo + Notion + 3 Database IDs — في إعدادات GitHub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0" y="4251959"/>
            <a:ext cx="502920" cy="502920"/>
          </a:xfrm>
          <a:prstGeom prst="ellipse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429767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0624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تشغيل أول دورة كاملة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57200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A6A6A"/>
                </a:solidFill>
                <a:latin typeface="Calibri"/>
              </a:defRPr>
            </a:pPr>
            <a:r>
              <a:t>الـ Pipeline يشتغل تلقائي كل يوم 7 صباحاً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0" y="5212080"/>
            <a:ext cx="502920" cy="502920"/>
          </a:xfrm>
          <a:prstGeom prst="ellipse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52578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16636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متابعة المعايرة الأسبوعية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53212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6A6A6A"/>
                </a:solidFill>
                <a:latin typeface="Calibri"/>
              </a:defRPr>
            </a:pPr>
            <a:r>
              <a:t>كل أحد النظام يعطينا تقرير — نراجع ونوافق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5669280"/>
            <a:ext cx="7589520" cy="6400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0" y="576072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النظام جاهز — نحتاج فقط الموافقة على التفعيل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0" y="6510528"/>
            <a:ext cx="121916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A6A6A"/>
                </a:solidFill>
                <a:latin typeface="Calibri"/>
              </a:defRPr>
            </a:pPr>
            <a:r>
              <a:t>AI Sales OS v4.0  |  MUHIDE  |  رغيد المدني  |  مارس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