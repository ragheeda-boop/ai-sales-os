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8771A"/>
                </a:solidFill>
              </a:defRPr>
            </a:pPr>
            <a:r>
              <a:t>AI SALES 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Unified Sales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0F0F0"/>
                </a:solidFill>
              </a:defRPr>
            </a:pPr>
            <a:r>
              <a:t>Apollo.io → Python Engine → Notion CRM → GitHub Actions</a:t>
            </a:r>
          </a:p>
          <a:p>
            <a:pPr algn="ctr">
              <a:defRPr sz="1400">
                <a:solidFill>
                  <a:srgbClr val="F0F0F0"/>
                </a:solidFill>
              </a:defRPr>
            </a:pPr>
          </a:p>
          <a:p>
            <a:pPr algn="ctr">
              <a:defRPr sz="1400">
                <a:solidFill>
                  <a:srgbClr val="F0F0F0"/>
                </a:solidFill>
              </a:defRPr>
            </a:pPr>
            <a:r>
              <a:t>44,875 Contacts | 15,407 Companies | 4 Phases | 0 Middleware</a:t>
            </a:r>
          </a:p>
          <a:p>
            <a:pPr algn="ctr">
              <a:defRPr sz="1400">
                <a:solidFill>
                  <a:srgbClr val="F0F0F0"/>
                </a:solidFill>
              </a:defRPr>
            </a:pPr>
          </a:p>
          <a:p>
            <a:pPr algn="ctr">
              <a:defRPr sz="1400">
                <a:solidFill>
                  <a:srgbClr val="F0F0F0"/>
                </a:solidFill>
              </a:defRPr>
            </a:pPr>
            <a:r>
              <a:t>Version 3.1 | March 2026 | Owner: Ragheed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8771A"/>
                </a:solidFill>
              </a:defRPr>
            </a:pPr>
            <a:r>
              <a:t>The Challenge.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Why we built AI Sales 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8771A"/>
          </a:solidFill>
          <a:ln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Before vs After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3840480" cy="365760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</a:defRPr>
            </a:pPr>
            <a:r>
              <a:t>Scattered data across platforms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No automated sync between systems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Manual lead prioritization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Inconsistent scoring criteria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5+ expensive middleware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822960"/>
            <a:ext cx="3840480" cy="365760"/>
          </a:xfrm>
          <a:prstGeom prst="rect">
            <a:avLst/>
          </a:prstGeom>
          <a:solidFill>
            <a:srgbClr val="E8771A"/>
          </a:solidFill>
          <a:ln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86868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AI SALES 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3716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</a:defRPr>
            </a:pPr>
            <a:r>
              <a:t>Unified data pipeline (Apollo → Notion)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Automatic daily sync (daily_sync.py)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AI lead scoring (0-100 scale)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HOT/WARM/COLD classification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Zero middleware — pure Python + 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8771A"/>
          </a:solidFill>
          <a:ln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1645920"/>
          </a:xfrm>
          <a:prstGeom prst="rect">
            <a:avLst/>
          </a:prstGeom>
          <a:solidFill>
            <a:srgbClr val="1A1A1A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8771A"/>
                </a:solidFill>
              </a:defRPr>
            </a:pPr>
            <a:r>
              <a:t>Apollo.io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0F0F0"/>
                </a:solidFill>
              </a:defRPr>
            </a:pPr>
            <a:r>
              <a:t>44,875 Contacts</a:t>
            </a:r>
          </a:p>
          <a:p>
            <a:pPr algn="ctr">
              <a:defRPr sz="1000">
                <a:solidFill>
                  <a:srgbClr val="F0F0F0"/>
                </a:solidFill>
              </a:defRPr>
            </a:pPr>
            <a:r>
              <a:t>15,407 Companies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097280"/>
            <a:ext cx="1828800" cy="1645920"/>
          </a:xfrm>
          <a:prstGeom prst="rect">
            <a:avLst/>
          </a:prstGeom>
          <a:solidFill>
            <a:srgbClr val="1A1A1A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2344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8771A"/>
                </a:solidFill>
              </a:defRPr>
            </a:pPr>
            <a:r>
              <a:t>Python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4630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0F0F0"/>
                </a:solidFill>
              </a:defRPr>
            </a:pPr>
            <a:r>
              <a:t>daily_sync.py v2.1</a:t>
            </a:r>
          </a:p>
          <a:p>
            <a:pPr algn="ctr">
              <a:defRPr sz="1000">
                <a:solidFill>
                  <a:srgbClr val="F0F0F0"/>
                </a:solidFill>
              </a:defRPr>
            </a:pPr>
            <a:r>
              <a:t>lead_score.py</a:t>
            </a:r>
          </a:p>
          <a:p>
            <a:pPr algn="ctr">
              <a:defRPr sz="1000">
                <a:solidFill>
                  <a:srgbClr val="F0F0F0"/>
                </a:solidFill>
              </a:defRPr>
            </a:pPr>
            <a:r>
              <a:t>auto_tasks.py</a:t>
            </a:r>
          </a:p>
          <a:p>
            <a:pPr algn="ctr">
              <a:defRPr sz="1000">
                <a:solidFill>
                  <a:srgbClr val="F0F0F0"/>
                </a:solidFill>
              </a:defRPr>
            </a:pPr>
            <a:r>
              <a:t>3 Sync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97280"/>
            <a:ext cx="1828800" cy="1645920"/>
          </a:xfrm>
          <a:prstGeom prst="rect">
            <a:avLst/>
          </a:prstGeom>
          <a:solidFill>
            <a:srgbClr val="1A1A1A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2344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8771A"/>
                </a:solidFill>
              </a:defRPr>
            </a:pPr>
            <a:r>
              <a:t>Notion CRM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0F0F0"/>
                </a:solidFill>
              </a:defRPr>
            </a:pPr>
            <a:r>
              <a:t>7 Databases</a:t>
            </a:r>
          </a:p>
          <a:p>
            <a:pPr algn="ctr">
              <a:defRPr sz="1000">
                <a:solidFill>
                  <a:srgbClr val="F0F0F0"/>
                </a:solidFill>
              </a:defRPr>
            </a:pPr>
            <a:r>
              <a:t>HOT/WARM/COLD</a:t>
            </a:r>
          </a:p>
          <a:p>
            <a:pPr algn="ctr">
              <a:defRPr sz="1000">
                <a:solidFill>
                  <a:srgbClr val="F0F0F0"/>
                </a:solidFill>
              </a:defRPr>
            </a:pPr>
            <a:r>
              <a:t>Dashboards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097280"/>
            <a:ext cx="1828800" cy="1645920"/>
          </a:xfrm>
          <a:prstGeom prst="rect">
            <a:avLst/>
          </a:prstGeom>
          <a:solidFill>
            <a:srgbClr val="1A1A1A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2344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8771A"/>
                </a:solidFill>
              </a:defRPr>
            </a:pPr>
            <a:r>
              <a:t>GitHub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14630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0F0F0"/>
                </a:solidFill>
              </a:defRPr>
            </a:pPr>
            <a:r>
              <a:t>Daily Cron</a:t>
            </a:r>
          </a:p>
          <a:p>
            <a:pPr algn="ctr">
              <a:defRPr sz="1000">
                <a:solidFill>
                  <a:srgbClr val="F0F0F0"/>
                </a:solidFill>
              </a:defRPr>
            </a:pPr>
            <a:r>
              <a:t>7:00 AM KSA</a:t>
            </a:r>
          </a:p>
          <a:p>
            <a:pPr algn="ctr">
              <a:defRPr sz="1000">
                <a:solidFill>
                  <a:srgbClr val="F0F0F0"/>
                </a:solidFill>
              </a:defRPr>
            </a:pPr>
            <a:r>
              <a:t>10-Step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8771A"/>
                </a:solidFill>
              </a:defRPr>
            </a:pPr>
            <a:r>
              <a:t>No middleware — pure Python + GitHub 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8771A"/>
          </a:solidFill>
          <a:ln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Data at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828800" cy="822960"/>
          </a:xfrm>
          <a:prstGeom prst="rect">
            <a:avLst/>
          </a:prstGeom>
          <a:solidFill>
            <a:srgbClr val="1A1A1A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8771A"/>
                </a:solidFill>
              </a:defRPr>
            </a:pPr>
            <a:r>
              <a:t>44,875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0F0F0"/>
                </a:solidFill>
              </a:defRPr>
            </a:pPr>
            <a:r>
              <a:t>Contacts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914400"/>
            <a:ext cx="1828800" cy="822960"/>
          </a:xfrm>
          <a:prstGeom prst="rect">
            <a:avLst/>
          </a:prstGeom>
          <a:solidFill>
            <a:srgbClr val="1A1A1A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0515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8771A"/>
                </a:solidFill>
              </a:defRPr>
            </a:pPr>
            <a:r>
              <a:t>15,407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371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0F0F0"/>
                </a:solidFill>
              </a:defRPr>
            </a:pPr>
            <a:r>
              <a:t>Companies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914400"/>
            <a:ext cx="1828800" cy="822960"/>
          </a:xfrm>
          <a:prstGeom prst="rect">
            <a:avLst/>
          </a:prstGeom>
          <a:solidFill>
            <a:srgbClr val="1A1A1A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0515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8771A"/>
                </a:solidFill>
              </a:defRPr>
            </a:pPr>
            <a: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371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0F0F0"/>
                </a:solidFill>
              </a:defRPr>
            </a:pPr>
            <a:r>
              <a:t>Databases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59" y="914400"/>
            <a:ext cx="1828800" cy="822960"/>
          </a:xfrm>
          <a:prstGeom prst="rect">
            <a:avLst/>
          </a:prstGeom>
          <a:solidFill>
            <a:srgbClr val="1A1A1A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10515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8771A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1371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0F0F0"/>
                </a:solidFill>
              </a:defRPr>
            </a:pPr>
            <a:r>
              <a:t>Sync Modes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7 Notion Databases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286000"/>
            <a:ext cx="7863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</a:defRPr>
            </a:pPr>
            <a:r>
              <a:t>Companies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Contacts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Tasks (auto-created by Action Engine)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Opportunities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Meetings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Activities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Email 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8771A"/>
          </a:solidFill>
          <a:ln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daily_sync.py v2.1 — Three operational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651760" cy="365760"/>
          </a:xfrm>
          <a:prstGeom prst="rect">
            <a:avLst/>
          </a:prstGeom>
          <a:solidFill>
            <a:srgbClr val="E8771A"/>
          </a:solidFill>
          <a:ln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INCREMENTAL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A1A1A"/>
                </a:solidFill>
              </a:defRPr>
            </a:pPr>
            <a:r>
              <a:t>Daily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Last 26 hours</a:t>
            </a:r>
          </a:p>
          <a:p>
            <a:pPr algn="ctr">
              <a:defRPr sz="900">
                <a:solidFill>
                  <a:srgbClr val="1A1A1A"/>
                </a:solidFill>
              </a:defRPr>
            </a:pPr>
            <a:r>
              <a:t>Overlap handling</a:t>
            </a:r>
          </a:p>
          <a:p>
            <a:pPr algn="ctr">
              <a:defRPr sz="900">
                <a:solidFill>
                  <a:srgbClr val="1A1A1A"/>
                </a:solidFill>
              </a:defRPr>
            </a:pPr>
            <a:r>
              <a:t>No gaps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05840"/>
            <a:ext cx="2651760" cy="365760"/>
          </a:xfrm>
          <a:prstGeom prst="rect">
            <a:avLst/>
          </a:prstGeom>
          <a:solidFill>
            <a:srgbClr val="E8771A"/>
          </a:solidFill>
          <a:ln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05156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BACKFILL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46304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A1A1A"/>
                </a:solidFill>
              </a:defRPr>
            </a:pPr>
            <a:r>
              <a:t>Gap recovery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830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Historical range</a:t>
            </a:r>
          </a:p>
          <a:p>
            <a:pPr algn="ctr">
              <a:defRPr sz="900">
                <a:solidFill>
                  <a:srgbClr val="1A1A1A"/>
                </a:solidFill>
              </a:defRPr>
            </a:pPr>
            <a:r>
              <a:t>Checkpoint resume</a:t>
            </a:r>
          </a:p>
          <a:p>
            <a:pPr algn="ctr">
              <a:defRPr sz="900">
                <a:solidFill>
                  <a:srgbClr val="1A1A1A"/>
                </a:solidFill>
              </a:defRPr>
            </a:pPr>
            <a:r>
              <a:t>Interruptible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05840"/>
            <a:ext cx="2651760" cy="365760"/>
          </a:xfrm>
          <a:prstGeom prst="rect">
            <a:avLst/>
          </a:prstGeom>
          <a:solidFill>
            <a:srgbClr val="E8771A"/>
          </a:solidFill>
          <a:ln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05156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FULL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46304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A1A1A"/>
                </a:solidFill>
              </a:defRPr>
            </a:pPr>
            <a:r>
              <a:t>First-time / rebuild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830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All records</a:t>
            </a:r>
          </a:p>
          <a:p>
            <a:pPr algn="ctr">
              <a:defRPr sz="900">
                <a:solidFill>
                  <a:srgbClr val="1A1A1A"/>
                </a:solidFill>
              </a:defRPr>
            </a:pPr>
            <a:r>
              <a:t>A-Z partitioning</a:t>
            </a:r>
          </a:p>
          <a:p>
            <a:pPr algn="ctr">
              <a:defRPr sz="900">
                <a:solidFill>
                  <a:srgbClr val="1A1A1A"/>
                </a:solidFill>
              </a:defRPr>
            </a:pPr>
            <a:r>
              <a:t>2-4 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8328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</a:defRPr>
            </a:pPr>
            <a:r>
              <a:t>Triple Dedup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Seniority Normalization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Safe Boolean Writing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Pre-loads Notion records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8771A"/>
          </a:solidFill>
          <a:ln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lead_score.py — Writes Score + Lead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Scoring Formula (v1.1 — Current Calibrated Weights)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0F0F0"/>
                </a:solidFill>
              </a:defRPr>
            </a:pPr>
            <a:r>
              <a:t>Score = (Intent × 10%) + (Engagement × 10%) + (Company Size × 45%) + (Seniority × 35%)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Lead Classification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01168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E877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E877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E877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HOT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≥ 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Call today — high-value decision makers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WARM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50–79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Follow up within 48 hours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COLD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&lt; 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Monitor only — no action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1A1A1A"/>
                </a:solidFill>
              </a:defRPr>
            </a:pPr>
            <a:r>
              <a:t>Note: v1.1 weights — Size+Seniority weighted high because Intent+Engagement data is sparse. This is expected and correct.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8771A"/>
          </a:solidFill>
          <a:ln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GitHub Actions — 10-Step Daily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1. Checkout repository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2. Setup Python 3.11 with pip cache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3. Install dependencies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4. daily_sync.py (sync last 26 hours)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5. lead_score.py (recalculate + write tier)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14400"/>
            <a:ext cx="4114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6. action_ready_updater.py (5-condition gating)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7. auto_tasks.py (create SLA-based tasks)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8. health_check.py (validate pipeline)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9. Upload logs as artifacts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10. Notify on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F0F0"/>
                </a:solidFill>
              </a:defRPr>
            </a:pPr>
            <a:r>
              <a:t>Schedule: Daily at 7:00 AM KSA (04:00 UTC) | Cost: FREE — 450 min/month of 2,000 free tier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8771A"/>
          </a:solidFill>
          <a:ln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Code Base — 10 Active Scripts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731520"/>
          <a:ext cx="8595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29094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Script</a:t>
                      </a:r>
                    </a:p>
                  </a:txBody>
                  <a:tcPr>
                    <a:solidFill>
                      <a:srgbClr val="E877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E877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E8771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daily_sync.py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Sync Engine v2.1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lead_score.py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Score + Tier Writer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constants.py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Unified Field Names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notion_helpers.py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Notion API Utils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auto_tasks.py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Action Engine (SLA)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action_ready_updater.py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5-Condition Gating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health_check.py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Pipeline Validator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webhook_server.py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Apollo Webhooks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verify_links.py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Link Verifier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095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job_postings_sync.py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Job Signals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Tech Stack: Python 3.11 | Notion API | Apollo API | GitHub Actions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8771A"/>
          </a:solidFill>
          <a:ln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Execution Roadmap — 4 Phases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965960" cy="2743200"/>
          </a:xfrm>
          <a:prstGeom prst="rect">
            <a:avLst/>
          </a:prstGeom>
          <a:solidFill>
            <a:srgbClr val="2D9C7B"/>
          </a:solidFill>
          <a:ln>
            <a:solidFill>
              <a:srgbClr val="2D9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1</a:t>
            </a:r>
          </a:p>
          <a:p>
            <a:r>
              <a:t>ACTIVATE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0F0F0"/>
                </a:solidFill>
              </a:defRPr>
            </a:pPr>
            <a:r>
              <a:t>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783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0F0F0"/>
                </a:solidFill>
              </a:defRPr>
            </a:pPr>
            <a:r>
              <a:t>Full Sync running</a:t>
            </a:r>
          </a:p>
          <a:p>
            <a:pPr algn="ctr">
              <a:defRPr sz="800">
                <a:solidFill>
                  <a:srgbClr val="F0F0F0"/>
                </a:solidFill>
              </a:defRPr>
            </a:pPr>
            <a:r>
              <a:t>Lead Scoring built</a:t>
            </a:r>
          </a:p>
          <a:p>
            <a:pPr algn="ctr">
              <a:defRPr sz="800">
                <a:solidFill>
                  <a:srgbClr val="F0F0F0"/>
                </a:solidFill>
              </a:defRPr>
            </a:pPr>
            <a:r>
              <a:t>Seniority normalization</a:t>
            </a:r>
          </a:p>
          <a:p>
            <a:pPr algn="ctr">
              <a:defRPr sz="800">
                <a:solidFill>
                  <a:srgbClr val="F0F0F0"/>
                </a:solidFill>
              </a:defRPr>
            </a:pPr>
            <a:r>
              <a:t>Safe boolean writing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097280"/>
            <a:ext cx="1965960" cy="2743200"/>
          </a:xfrm>
          <a:prstGeom prst="rect">
            <a:avLst/>
          </a:prstGeom>
          <a:solidFill>
            <a:srgbClr val="E8771A"/>
          </a:solidFill>
          <a:ln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23444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2</a:t>
            </a:r>
          </a:p>
          <a:p>
            <a:r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645920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0F0F0"/>
                </a:solidFill>
              </a:defRPr>
            </a:pPr>
            <a:r>
              <a:t>CODE 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011680"/>
            <a:ext cx="1783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0F0F0"/>
                </a:solidFill>
              </a:defRPr>
            </a:pPr>
            <a:r>
              <a:t>auto_tasks.py built</a:t>
            </a:r>
          </a:p>
          <a:p>
            <a:pPr algn="ctr">
              <a:defRPr sz="800">
                <a:solidFill>
                  <a:srgbClr val="F0F0F0"/>
                </a:solidFill>
              </a:defRPr>
            </a:pPr>
            <a:r>
              <a:t>action_ready_updater.py</a:t>
            </a:r>
          </a:p>
          <a:p>
            <a:pPr algn="ctr">
              <a:defRPr sz="800">
                <a:solidFill>
                  <a:srgbClr val="F0F0F0"/>
                </a:solidFill>
              </a:defRPr>
            </a:pPr>
            <a:r>
              <a:t>health_check.py</a:t>
            </a:r>
          </a:p>
          <a:p>
            <a:pPr algn="ctr">
              <a:defRPr sz="800">
                <a:solidFill>
                  <a:srgbClr val="F0F0F0"/>
                </a:solidFill>
              </a:defRPr>
            </a:pPr>
            <a:r>
              <a:t>Pending first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097280"/>
            <a:ext cx="1965960" cy="2743200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23444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3</a:t>
            </a:r>
          </a:p>
          <a:p>
            <a:r>
              <a:t>ENRICH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645920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0F0F0"/>
                </a:solidFill>
              </a:defRPr>
            </a:pPr>
            <a: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011680"/>
            <a:ext cx="1783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0F0F0"/>
                </a:solidFill>
              </a:defRPr>
            </a:pPr>
            <a:r>
              <a:t>Job Postings signal</a:t>
            </a:r>
          </a:p>
          <a:p>
            <a:pPr algn="ctr">
              <a:defRPr sz="800">
                <a:solidFill>
                  <a:srgbClr val="F0F0F0"/>
                </a:solidFill>
              </a:defRPr>
            </a:pPr>
            <a:r>
              <a:t>Job Change detection</a:t>
            </a:r>
          </a:p>
          <a:p>
            <a:pPr algn="ctr">
              <a:defRPr sz="800">
                <a:solidFill>
                  <a:srgbClr val="F0F0F0"/>
                </a:solidFill>
              </a:defRPr>
            </a:pPr>
            <a:r>
              <a:t>Intent Trend tracking</a:t>
            </a:r>
          </a:p>
          <a:p>
            <a:pPr algn="ctr">
              <a:defRPr sz="800">
                <a:solidFill>
                  <a:srgbClr val="F0F0F0"/>
                </a:solidFill>
              </a:defRPr>
            </a:pPr>
            <a:r>
              <a:t>Lead Score v2.0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1097280"/>
            <a:ext cx="1965960" cy="2743200"/>
          </a:xfrm>
          <a:prstGeom prst="rect">
            <a:avLst/>
          </a:prstGeom>
          <a:solidFill>
            <a:srgbClr val="999999"/>
          </a:solidFill>
          <a:ln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123444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4</a:t>
            </a:r>
          </a:p>
          <a:p>
            <a:r>
              <a:t>OPTIMIZE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645920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0F0F0"/>
                </a:solidFill>
              </a:defRPr>
            </a:pPr>
            <a:r>
              <a:t>FUTURE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011680"/>
            <a:ext cx="1783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0F0F0"/>
                </a:solidFill>
              </a:defRPr>
            </a:pPr>
            <a:r>
              <a:t>Odoo integration</a:t>
            </a:r>
          </a:p>
          <a:p>
            <a:pPr algn="ctr">
              <a:defRPr sz="800">
                <a:solidFill>
                  <a:srgbClr val="F0F0F0"/>
                </a:solidFill>
              </a:defRPr>
            </a:pPr>
            <a:r>
              <a:t>Revenue tracking</a:t>
            </a:r>
          </a:p>
          <a:p>
            <a:pPr algn="ctr">
              <a:defRPr sz="800">
                <a:solidFill>
                  <a:srgbClr val="F0F0F0"/>
                </a:solidFill>
              </a:defRPr>
            </a:pPr>
            <a:r>
              <a:t>Analytics</a:t>
            </a:r>
          </a:p>
          <a:p>
            <a:pPr algn="ctr">
              <a:defRPr sz="800">
                <a:solidFill>
                  <a:srgbClr val="F0F0F0"/>
                </a:solidFill>
              </a:defRPr>
            </a:pPr>
            <a:r>
              <a:t>Full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Overall Progress: Phase 2 code complete — pending first run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8771A"/>
          </a:solidFill>
          <a:ln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auto_tasks.py + action_ready_updater.py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Action Ready — 5 Gating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Lead Score ≥ 50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Do Not Call = False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Outreach Status NOT in {Do Not Contact, Bounced, Bad Data}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Stage is NOT 'Customer' or 'Churned'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Has at least one contact method (email or phone)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Priority Rules &amp; SLA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E877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E877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E877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E8771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HOT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CALL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24 hours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WARM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FOLLOW-UP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48 hours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Features: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Duplicate prevention: checks for existing open tasks before creating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Automated task creation based on Lead Tier and SLA deadlines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8771A"/>
          </a:solidFill>
          <a:ln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Phase 3 — Signals &amp; Enrichment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Coming in 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</a:defRPr>
            </a:pPr>
            <a:r>
              <a:t>Job Postings Signal — detect hiring activity at target accounts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Job Change Detection — identify when decision-makers change roles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Intent Trend Tracking — compare intent scores between syncs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Lead Score v2.0 Weights (activate with signals data)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0F0F0"/>
                </a:solidFill>
              </a:defRPr>
            </a:pPr>
            <a:r>
              <a:t>Intent 30% + Engagement 25% + Signals 25% + Company Size 10% + Seniority 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1A1A1A"/>
                </a:solidFill>
              </a:defRPr>
            </a:pPr>
            <a:r>
              <a:t>Note: DO NOT activate v2.0 until signals data is actually populated. Empty fields would weaken all scores.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8771A"/>
          </a:solidFill>
          <a:ln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Current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1A1A"/>
                </a:solidFill>
              </a:defRPr>
            </a:pPr>
            <a:r>
              <a:t>Phase 1: ACTIVATE</a:t>
            </a:r>
          </a:p>
          <a:p>
            <a:pPr>
              <a:defRPr sz="1000" b="0">
                <a:solidFill>
                  <a:srgbClr val="1A1A1A"/>
                </a:solidFill>
              </a:defRPr>
            </a:pPr>
            <a:r>
              <a:t>✓ COMPLETE — Full sync, lead scoring, seniority normalization, safe booleans</a:t>
            </a:r>
          </a:p>
          <a:p>
            <a:pPr>
              <a:defRPr sz="1000" b="0">
                <a:solidFill>
                  <a:srgbClr val="1A1A1A"/>
                </a:solidFill>
              </a:defRPr>
            </a:pPr>
          </a:p>
          <a:p>
            <a:pPr>
              <a:defRPr sz="1000" b="1">
                <a:solidFill>
                  <a:srgbClr val="1A1A1A"/>
                </a:solidFill>
              </a:defRPr>
            </a:pPr>
            <a:r>
              <a:t>Phase 2: ACTION</a:t>
            </a:r>
          </a:p>
          <a:p>
            <a:pPr>
              <a:defRPr sz="1000" b="0">
                <a:solidFill>
                  <a:srgbClr val="1A1A1A"/>
                </a:solidFill>
              </a:defRPr>
            </a:pPr>
            <a:r>
              <a:t>✓ CODE COMPLETE — auto_tasks.py, action_ready_updater.py, health_check.py</a:t>
            </a:r>
          </a:p>
          <a:p>
            <a:pPr>
              <a:defRPr sz="1000" b="0">
                <a:solidFill>
                  <a:srgbClr val="1A1A1A"/>
                </a:solidFill>
              </a:defRPr>
            </a:pPr>
          </a:p>
          <a:p>
            <a:pPr>
              <a:defRPr sz="1000" b="1">
                <a:solidFill>
                  <a:srgbClr val="1A1A1A"/>
                </a:solidFill>
              </a:defRPr>
            </a:pPr>
            <a:r>
              <a:t>Remaining Tasks:</a:t>
            </a:r>
          </a:p>
          <a:p>
            <a:pPr>
              <a:defRPr sz="1000" b="0">
                <a:solidFill>
                  <a:srgbClr val="1A1A1A"/>
                </a:solidFill>
              </a:defRPr>
            </a:pPr>
            <a:r>
              <a:t>1. Run lead_score.py --force (write Lead Tier for all contacts)</a:t>
            </a:r>
          </a:p>
          <a:p>
            <a:pPr>
              <a:defRPr sz="1000" b="0">
                <a:solidFill>
                  <a:srgbClr val="1A1A1A"/>
                </a:solidFill>
              </a:defRPr>
            </a:pPr>
            <a:r>
              <a:t>2. Run action_ready_updater.py (evaluate 5 conditions)</a:t>
            </a:r>
          </a:p>
          <a:p>
            <a:pPr>
              <a:defRPr sz="1000" b="0">
                <a:solidFill>
                  <a:srgbClr val="1A1A1A"/>
                </a:solidFill>
              </a:defRPr>
            </a:pPr>
            <a:r>
              <a:t>3. Run auto_tasks.py --dry-run (validate task creation)</a:t>
            </a:r>
          </a:p>
          <a:p>
            <a:pPr>
              <a:defRPr sz="1000" b="0">
                <a:solidFill>
                  <a:srgbClr val="1A1A1A"/>
                </a:solidFill>
              </a:defRPr>
            </a:pPr>
            <a:r>
              <a:t>4. Push code to GitHub, add NOTION_DATABASE_ID_TASKS secret</a:t>
            </a:r>
          </a:p>
          <a:p>
            <a:pPr>
              <a:defRPr sz="1000" b="0">
                <a:solidFill>
                  <a:srgbClr val="1A1A1A"/>
                </a:solidFill>
              </a:defRPr>
            </a:pPr>
            <a:r>
              <a:t>5. Activate daily pipeline (GitHub Actions)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8771A"/>
                </a:solidFill>
              </a:defRPr>
            </a:pPr>
            <a: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0F0F0"/>
                </a:solidFill>
              </a:defRPr>
            </a:pPr>
            <a:r>
              <a:t>1. Run lead_score.py --force (write Lead Tier for all contacts)</a:t>
            </a:r>
          </a:p>
          <a:p>
            <a:pPr algn="ctr">
              <a:defRPr sz="1400">
                <a:solidFill>
                  <a:srgbClr val="F0F0F0"/>
                </a:solidFill>
              </a:defRPr>
            </a:pPr>
            <a:r>
              <a:t>2. Run action_ready_updater.py + auto_tasks.py --dry-run</a:t>
            </a:r>
          </a:p>
          <a:p>
            <a:pPr algn="ctr">
              <a:defRPr sz="1400">
                <a:solidFill>
                  <a:srgbClr val="F0F0F0"/>
                </a:solidFill>
              </a:defRPr>
            </a:pPr>
            <a:r>
              <a:t>3. Push code to GitHub, add NOTION_DATABASE_ID_TASKS secret</a:t>
            </a:r>
          </a:p>
          <a:p>
            <a:pPr algn="ctr">
              <a:defRPr sz="1400">
                <a:solidFill>
                  <a:srgbClr val="F0F0F0"/>
                </a:solidFill>
              </a:defRPr>
            </a:pPr>
            <a:r>
              <a:t>4. Activate daily pipeline (GitHub Actions)</a:t>
            </a:r>
          </a:p>
          <a:p>
            <a:pPr algn="ctr">
              <a:defRPr sz="1400">
                <a:solidFill>
                  <a:srgbClr val="F0F0F0"/>
                </a:solidFill>
              </a:defRPr>
            </a:pPr>
            <a:r>
              <a:t>5. Phase 3: Job Postings + Intent Signals</a:t>
            </a:r>
          </a:p>
          <a:p>
            <a:pPr algn="ctr">
              <a:defRPr sz="1400">
                <a:solidFill>
                  <a:srgbClr val="F0F0F0"/>
                </a:solidFill>
              </a:defRPr>
            </a:pPr>
          </a:p>
          <a:p>
            <a:pPr algn="ctr">
              <a:defRPr sz="1400">
                <a:solidFill>
                  <a:srgbClr val="F0F0F0"/>
                </a:solidFill>
              </a:defRPr>
            </a:pPr>
            <a:r>
              <a:t>AI SALES OS — Built by Ragheed | Version 3.1 |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